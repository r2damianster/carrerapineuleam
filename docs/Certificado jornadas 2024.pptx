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78" r:id="rId11"/>
    <p:sldId id="262" r:id="rId12"/>
    <p:sldId id="279" r:id="rId13"/>
    <p:sldId id="263" r:id="rId14"/>
    <p:sldId id="280" r:id="rId15"/>
    <p:sldId id="264" r:id="rId16"/>
    <p:sldId id="282" r:id="rId17"/>
    <p:sldId id="281" r:id="rId18"/>
    <p:sldId id="283" r:id="rId19"/>
    <p:sldId id="265" r:id="rId20"/>
    <p:sldId id="284" r:id="rId21"/>
    <p:sldId id="266" r:id="rId22"/>
    <p:sldId id="285" r:id="rId23"/>
    <p:sldId id="267" r:id="rId24"/>
    <p:sldId id="287" r:id="rId25"/>
    <p:sldId id="286" r:id="rId26"/>
    <p:sldId id="268" r:id="rId2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245B6-8B78-A54A-B5D5-69C5DF91F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6B767A-2330-3043-2972-F265AE252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3AA5FC-09F1-DC32-FD6B-A16B9D42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9D4C9D-C648-0282-600E-80B185798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DD4C09-BC19-A7AB-8D4D-B2CE8140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343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B4FD4-7396-02CF-54EC-BD0CFF662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1EA0AF-D899-328B-922E-647F2DDD0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0804CA-E6BA-7639-930F-F5D03E37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B43E0D-1DAA-25F4-7881-BFAC0CAD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19231E-73E5-3092-3457-8857C82D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4889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94CC0-87C9-E49A-F879-2EEE4211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61725F-F8D8-CC6D-BBC4-45197800F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84013B-7B6B-F4A5-A14D-5BCAB51C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29AECB-9013-FDD1-24D1-F9CF5F95C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FF6BB-64CD-D947-CECC-CCFE4776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2968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0A0DF-6818-9B47-29C9-9E2AC7ED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C6ED8F-32FA-428A-5AD7-7116F39ED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220B26-1C4D-6CE0-5D5E-D964DB9DB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629000-F529-AB90-0CAF-FFE4C1198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1E7E9F-EC96-10E9-9285-D40AC302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F7F18B-99CA-A7E2-5A12-43A44B8BF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08591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1BF51-EB1D-2A70-7CC0-06258596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AEF5CF-C21C-CD4C-5217-B5FB4AA90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170020-F50B-3487-693F-5D8473F78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F8A4411-A1B6-466E-9496-07FA92699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25AD4C-09A1-BBB1-B718-3C7C4C0B82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788665C-2FA8-DB85-289B-33F13D4F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251BAE-F9B8-BA2F-B313-46D97A32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F5ED59E-A90F-A471-C7A4-51665525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1718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A09E1-3E09-5C0D-5642-BA5DA0F5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A5A3072-EA3B-84FA-EA72-05A043E3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05F5A42-D314-5EFB-CDDB-C35076E8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F68B0E-3DA7-28B7-44A0-1693A0FA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2785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36F45D-D87A-12BE-6761-1C00CA36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5544AF1-3B6E-ED7C-1CC5-37A5CDB2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C9AB4C-823B-FD08-FF6E-3A91DAE8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4876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F3970-D980-6006-EBF6-AA63FE01E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604DAC-26E4-44D5-4933-F0136416D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E32F87-472D-040F-008B-C866A3F01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A2D021-7250-18B2-66B3-B8437078F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2BB4DE-FF73-1C50-4475-54668FED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22344A-6BE4-AD4A-F247-68D50D7EB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9217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01F17-CE54-47A4-1E51-FC3F89B12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E42AA2-CB99-6F8F-85C6-1B2D4AA68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B13F85-73CE-97CA-7956-1A35C5EB7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3BA414-E8D8-60F5-60A3-56E639FF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4BA6C3-C8BE-D7DA-7E29-85BDFC3F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654D84-4F67-E2FC-CC87-445D96AEE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18321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AC961-8C9F-A407-31C6-9A17A1D7A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00B8F9-1AF0-22B8-6335-D5D874F3E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AE6B47-432D-C128-E495-BDC3FE43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0848A2-689C-B511-2606-8C89FC3B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C91F76-84C3-A87F-D745-79E559BEE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0999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5494EA-A95D-29ED-4B37-3282C9D683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3F49D3-17DE-2468-1C56-FE86E5D73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39E4B1-6862-3022-2B0F-4C01DE4D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1237F5-E8E7-DA2D-D33D-7D9B1E698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5360E9-AC70-9675-0149-3130C6D0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83828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CCB5D3-AD0F-0037-F647-B080EDF64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A7C611-BFB5-37E8-4B80-1643C683D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701349-66BA-93CF-6F60-0DFE18983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DAAC1-3BB6-4829-8543-47D63B725639}" type="datetimeFigureOut">
              <a:rPr lang="es-EC" smtClean="0"/>
              <a:t>28/8/2024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80ACC2-440A-1738-44AF-81EC629B5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5963C3-A527-6607-493F-48208E5F3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9EFA4-2B99-48EF-A4C6-789D23DAEC2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18718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>
                <a:solidFill>
                  <a:schemeClr val="accent1"/>
                </a:solidFill>
              </a:rPr>
              <a:t>Actividad física como estrategia para estimular las habilidades sociales en niño con autismo. Un estudio de caso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Dolly García Saltos</a:t>
            </a:r>
          </a:p>
        </p:txBody>
      </p:sp>
    </p:spTree>
    <p:extLst>
      <p:ext uri="{BB962C8B-B14F-4D97-AF65-F5344CB8AC3E}">
        <p14:creationId xmlns:p14="http://schemas.microsoft.com/office/powerpoint/2010/main" val="401058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>
                <a:solidFill>
                  <a:schemeClr val="accent1"/>
                </a:solidFill>
              </a:rPr>
              <a:t>Propuesta de intervención mediante el uso del método global para abordar la iniciación a la lectura en un niño con  autismo.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Nagelli</a:t>
            </a:r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Lisseth Loor Anchundia</a:t>
            </a:r>
          </a:p>
        </p:txBody>
      </p:sp>
    </p:spTree>
    <p:extLst>
      <p:ext uri="{BB962C8B-B14F-4D97-AF65-F5344CB8AC3E}">
        <p14:creationId xmlns:p14="http://schemas.microsoft.com/office/powerpoint/2010/main" val="165038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Effective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classroom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management</a:t>
            </a:r>
            <a:r>
              <a:rPr lang="es-EC" b="1" i="1" dirty="0">
                <a:solidFill>
                  <a:schemeClr val="accent1"/>
                </a:solidFill>
              </a:rPr>
              <a:t>: </a:t>
            </a:r>
            <a:r>
              <a:rPr lang="es-EC" b="1" i="1" dirty="0" err="1">
                <a:solidFill>
                  <a:schemeClr val="accent1"/>
                </a:solidFill>
              </a:rPr>
              <a:t>Techniques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for</a:t>
            </a:r>
            <a:r>
              <a:rPr lang="es-EC" b="1" i="1" dirty="0">
                <a:solidFill>
                  <a:schemeClr val="accent1"/>
                </a:solidFill>
              </a:rPr>
              <a:t> Elementary </a:t>
            </a:r>
            <a:r>
              <a:rPr lang="es-EC" b="1" i="1" dirty="0" err="1">
                <a:solidFill>
                  <a:schemeClr val="accent1"/>
                </a:solidFill>
              </a:rPr>
              <a:t>Education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Educators</a:t>
            </a:r>
            <a:r>
              <a:rPr lang="es-EC" b="1" i="1" dirty="0">
                <a:solidFill>
                  <a:schemeClr val="accent1"/>
                </a:solidFill>
              </a:rPr>
              <a:t>. 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Katherine </a:t>
            </a:r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Jamileth</a:t>
            </a:r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Moreno Álava </a:t>
            </a:r>
          </a:p>
        </p:txBody>
      </p:sp>
    </p:spTree>
    <p:extLst>
      <p:ext uri="{BB962C8B-B14F-4D97-AF65-F5344CB8AC3E}">
        <p14:creationId xmlns:p14="http://schemas.microsoft.com/office/powerpoint/2010/main" val="155215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Transition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from</a:t>
            </a:r>
            <a:r>
              <a:rPr lang="es-EC" b="1" i="1" dirty="0">
                <a:solidFill>
                  <a:schemeClr val="accent1"/>
                </a:solidFill>
              </a:rPr>
              <a:t> regular English </a:t>
            </a:r>
            <a:r>
              <a:rPr lang="es-EC" b="1" i="1" dirty="0" err="1">
                <a:solidFill>
                  <a:schemeClr val="accent1"/>
                </a:solidFill>
              </a:rPr>
              <a:t>language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instruction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to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bilingual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education</a:t>
            </a:r>
            <a:r>
              <a:rPr lang="es-EC" b="1" i="1" dirty="0">
                <a:solidFill>
                  <a:schemeClr val="accent1"/>
                </a:solidFill>
              </a:rPr>
              <a:t>: </a:t>
            </a:r>
            <a:r>
              <a:rPr lang="es-EC" b="1" i="1" dirty="0" err="1">
                <a:solidFill>
                  <a:schemeClr val="accent1"/>
                </a:solidFill>
              </a:rPr>
              <a:t>Experience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using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gamification</a:t>
            </a:r>
            <a:r>
              <a:rPr lang="es-EC" b="1" i="1" dirty="0">
                <a:solidFill>
                  <a:schemeClr val="accent1"/>
                </a:solidFill>
              </a:rPr>
              <a:t>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Jean Pierre Piloso Cedeño</a:t>
            </a:r>
          </a:p>
        </p:txBody>
      </p:sp>
    </p:spTree>
    <p:extLst>
      <p:ext uri="{BB962C8B-B14F-4D97-AF65-F5344CB8AC3E}">
        <p14:creationId xmlns:p14="http://schemas.microsoft.com/office/powerpoint/2010/main" val="74922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>
                <a:solidFill>
                  <a:schemeClr val="accent1"/>
                </a:solidFill>
              </a:rPr>
              <a:t>Integración de asignaturas fomentando la investigación formativa.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Alexander Choez Delgado</a:t>
            </a:r>
          </a:p>
        </p:txBody>
      </p:sp>
    </p:spTree>
    <p:extLst>
      <p:ext uri="{BB962C8B-B14F-4D97-AF65-F5344CB8AC3E}">
        <p14:creationId xmlns:p14="http://schemas.microsoft.com/office/powerpoint/2010/main" val="1686757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>
                <a:solidFill>
                  <a:schemeClr val="accent1"/>
                </a:solidFill>
              </a:rPr>
              <a:t>Intercultural </a:t>
            </a:r>
            <a:r>
              <a:rPr lang="es-EC" b="1" i="1" dirty="0" err="1">
                <a:solidFill>
                  <a:schemeClr val="accent1"/>
                </a:solidFill>
              </a:rPr>
              <a:t>competence</a:t>
            </a:r>
            <a:r>
              <a:rPr lang="es-EC" b="1" i="1" dirty="0">
                <a:solidFill>
                  <a:schemeClr val="accent1"/>
                </a:solidFill>
              </a:rPr>
              <a:t> in </a:t>
            </a:r>
            <a:r>
              <a:rPr lang="es-EC" b="1" i="1" dirty="0" err="1">
                <a:solidFill>
                  <a:schemeClr val="accent1"/>
                </a:solidFill>
              </a:rPr>
              <a:t>instructors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of</a:t>
            </a:r>
            <a:r>
              <a:rPr lang="es-EC" b="1" i="1" dirty="0">
                <a:solidFill>
                  <a:schemeClr val="accent1"/>
                </a:solidFill>
              </a:rPr>
              <a:t> English as a </a:t>
            </a:r>
            <a:r>
              <a:rPr lang="es-EC" b="1" i="1" dirty="0" err="1">
                <a:solidFill>
                  <a:schemeClr val="accent1"/>
                </a:solidFill>
              </a:rPr>
              <a:t>foreign</a:t>
            </a:r>
            <a:r>
              <a:rPr lang="es-EC" b="1" i="1" dirty="0">
                <a:solidFill>
                  <a:schemeClr val="accent1"/>
                </a:solidFill>
              </a:rPr>
              <a:t> Language.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María Belén Sabando Moreira</a:t>
            </a:r>
          </a:p>
        </p:txBody>
      </p:sp>
    </p:spTree>
    <p:extLst>
      <p:ext uri="{BB962C8B-B14F-4D97-AF65-F5344CB8AC3E}">
        <p14:creationId xmlns:p14="http://schemas.microsoft.com/office/powerpoint/2010/main" val="420563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>
                <a:solidFill>
                  <a:schemeClr val="accent1"/>
                </a:solidFill>
              </a:rPr>
              <a:t>Intercultural </a:t>
            </a:r>
            <a:r>
              <a:rPr lang="es-EC" b="1" i="1" dirty="0" err="1">
                <a:solidFill>
                  <a:schemeClr val="accent1"/>
                </a:solidFill>
              </a:rPr>
              <a:t>competence</a:t>
            </a:r>
            <a:r>
              <a:rPr lang="es-EC" b="1" i="1" dirty="0">
                <a:solidFill>
                  <a:schemeClr val="accent1"/>
                </a:solidFill>
              </a:rPr>
              <a:t> in </a:t>
            </a:r>
            <a:r>
              <a:rPr lang="es-EC" b="1" i="1" dirty="0" err="1">
                <a:solidFill>
                  <a:schemeClr val="accent1"/>
                </a:solidFill>
              </a:rPr>
              <a:t>instructors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of</a:t>
            </a:r>
            <a:r>
              <a:rPr lang="es-EC" b="1" i="1" dirty="0">
                <a:solidFill>
                  <a:schemeClr val="accent1"/>
                </a:solidFill>
              </a:rPr>
              <a:t> English as a </a:t>
            </a:r>
            <a:r>
              <a:rPr lang="es-EC" b="1" i="1" dirty="0" err="1">
                <a:solidFill>
                  <a:schemeClr val="accent1"/>
                </a:solidFill>
              </a:rPr>
              <a:t>foreign</a:t>
            </a:r>
            <a:r>
              <a:rPr lang="es-EC" b="1" i="1" dirty="0">
                <a:solidFill>
                  <a:schemeClr val="accent1"/>
                </a:solidFill>
              </a:rPr>
              <a:t> Language.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Jenifer </a:t>
            </a:r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Stefanía</a:t>
            </a:r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Franco Cagua</a:t>
            </a:r>
          </a:p>
        </p:txBody>
      </p:sp>
    </p:spTree>
    <p:extLst>
      <p:ext uri="{BB962C8B-B14F-4D97-AF65-F5344CB8AC3E}">
        <p14:creationId xmlns:p14="http://schemas.microsoft.com/office/powerpoint/2010/main" val="4004335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Specific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educational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needs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of</a:t>
            </a:r>
            <a:r>
              <a:rPr lang="es-EC" b="1" i="1" dirty="0">
                <a:solidFill>
                  <a:schemeClr val="accent1"/>
                </a:solidFill>
              </a:rPr>
              <a:t> English as a </a:t>
            </a:r>
            <a:r>
              <a:rPr lang="es-EC" b="1" i="1" dirty="0" err="1">
                <a:solidFill>
                  <a:schemeClr val="accent1"/>
                </a:solidFill>
              </a:rPr>
              <a:t>foreing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language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student</a:t>
            </a:r>
            <a:r>
              <a:rPr lang="es-EC" b="1" i="1" dirty="0">
                <a:solidFill>
                  <a:schemeClr val="accent1"/>
                </a:solidFill>
              </a:rPr>
              <a:t>: </a:t>
            </a:r>
            <a:r>
              <a:rPr lang="es-EC" b="1" i="1" dirty="0" err="1">
                <a:solidFill>
                  <a:schemeClr val="accent1"/>
                </a:solidFill>
              </a:rPr>
              <a:t>Attention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deficit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hyperactivity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disorder</a:t>
            </a:r>
            <a:r>
              <a:rPr lang="es-EC" b="1" i="1" dirty="0">
                <a:solidFill>
                  <a:schemeClr val="accent1"/>
                </a:solidFill>
              </a:rPr>
              <a:t> and </a:t>
            </a:r>
            <a:r>
              <a:rPr lang="es-EC" b="1" i="1" dirty="0" err="1">
                <a:solidFill>
                  <a:schemeClr val="accent1"/>
                </a:solidFill>
              </a:rPr>
              <a:t>hearing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disability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Wendy Nayely Ponce </a:t>
            </a:r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Ponce</a:t>
            </a:r>
            <a:endParaRPr lang="es-ES" sz="3600" b="1" dirty="0">
              <a:solidFill>
                <a:schemeClr val="tx1">
                  <a:lumMod val="85000"/>
                  <a:lumOff val="15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78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Specific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educational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needs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of</a:t>
            </a:r>
            <a:r>
              <a:rPr lang="es-EC" b="1" i="1" dirty="0">
                <a:solidFill>
                  <a:schemeClr val="accent1"/>
                </a:solidFill>
              </a:rPr>
              <a:t> English as a </a:t>
            </a:r>
            <a:r>
              <a:rPr lang="es-EC" b="1" i="1" dirty="0" err="1">
                <a:solidFill>
                  <a:schemeClr val="accent1"/>
                </a:solidFill>
              </a:rPr>
              <a:t>foreing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language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student</a:t>
            </a:r>
            <a:r>
              <a:rPr lang="es-EC" b="1" i="1" dirty="0">
                <a:solidFill>
                  <a:schemeClr val="accent1"/>
                </a:solidFill>
              </a:rPr>
              <a:t>: </a:t>
            </a:r>
            <a:r>
              <a:rPr lang="es-EC" b="1" i="1" dirty="0" err="1">
                <a:solidFill>
                  <a:schemeClr val="accent1"/>
                </a:solidFill>
              </a:rPr>
              <a:t>Attention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deficit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hyperactivity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disorder</a:t>
            </a:r>
            <a:r>
              <a:rPr lang="es-EC" b="1" i="1" dirty="0">
                <a:solidFill>
                  <a:schemeClr val="accent1"/>
                </a:solidFill>
              </a:rPr>
              <a:t> and </a:t>
            </a:r>
            <a:r>
              <a:rPr lang="es-EC" b="1" i="1" dirty="0" err="1">
                <a:solidFill>
                  <a:schemeClr val="accent1"/>
                </a:solidFill>
              </a:rPr>
              <a:t>hearing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disability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Jean Pierre Pineda Reyna</a:t>
            </a:r>
          </a:p>
        </p:txBody>
      </p:sp>
    </p:spTree>
    <p:extLst>
      <p:ext uri="{BB962C8B-B14F-4D97-AF65-F5344CB8AC3E}">
        <p14:creationId xmlns:p14="http://schemas.microsoft.com/office/powerpoint/2010/main" val="1212463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Increasing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vocabulary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acquisition</a:t>
            </a:r>
            <a:r>
              <a:rPr lang="es-EC" b="1" i="1" dirty="0">
                <a:solidFill>
                  <a:schemeClr val="accent1"/>
                </a:solidFill>
              </a:rPr>
              <a:t> in </a:t>
            </a:r>
            <a:r>
              <a:rPr lang="es-EC" b="1" i="1" dirty="0" err="1">
                <a:solidFill>
                  <a:schemeClr val="accent1"/>
                </a:solidFill>
              </a:rPr>
              <a:t>the</a:t>
            </a:r>
            <a:r>
              <a:rPr lang="es-EC" b="1" i="1" dirty="0">
                <a:solidFill>
                  <a:schemeClr val="accent1"/>
                </a:solidFill>
              </a:rPr>
              <a:t> English Language </a:t>
            </a:r>
            <a:r>
              <a:rPr lang="es-EC" b="1" i="1" dirty="0" err="1">
                <a:solidFill>
                  <a:schemeClr val="accent1"/>
                </a:solidFill>
              </a:rPr>
              <a:t>Class</a:t>
            </a:r>
            <a:r>
              <a:rPr lang="es-EC" b="1" i="1" dirty="0">
                <a:solidFill>
                  <a:schemeClr val="accent1"/>
                </a:solidFill>
              </a:rPr>
              <a:t>: </a:t>
            </a:r>
            <a:r>
              <a:rPr lang="es-EC" b="1" i="1" dirty="0" err="1">
                <a:solidFill>
                  <a:schemeClr val="accent1"/>
                </a:solidFill>
              </a:rPr>
              <a:t>Using</a:t>
            </a:r>
            <a:r>
              <a:rPr lang="es-EC" b="1" i="1" dirty="0">
                <a:solidFill>
                  <a:schemeClr val="accent1"/>
                </a:solidFill>
              </a:rPr>
              <a:t> origami in </a:t>
            </a:r>
            <a:r>
              <a:rPr lang="es-EC" b="1" i="1" dirty="0" err="1">
                <a:solidFill>
                  <a:schemeClr val="accent1"/>
                </a:solidFill>
              </a:rPr>
              <a:t>community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service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projects</a:t>
            </a:r>
            <a:r>
              <a:rPr lang="es-EC" b="1" i="1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0" y="2687142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Andrés David Morillo Toro</a:t>
            </a:r>
          </a:p>
        </p:txBody>
      </p:sp>
    </p:spTree>
    <p:extLst>
      <p:ext uri="{BB962C8B-B14F-4D97-AF65-F5344CB8AC3E}">
        <p14:creationId xmlns:p14="http://schemas.microsoft.com/office/powerpoint/2010/main" val="164371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Increasing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vocabulary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acquisition</a:t>
            </a:r>
            <a:r>
              <a:rPr lang="es-EC" b="1" i="1" dirty="0">
                <a:solidFill>
                  <a:schemeClr val="accent1"/>
                </a:solidFill>
              </a:rPr>
              <a:t> in </a:t>
            </a:r>
            <a:r>
              <a:rPr lang="es-EC" b="1" i="1" dirty="0" err="1">
                <a:solidFill>
                  <a:schemeClr val="accent1"/>
                </a:solidFill>
              </a:rPr>
              <a:t>the</a:t>
            </a:r>
            <a:r>
              <a:rPr lang="es-EC" b="1" i="1" dirty="0">
                <a:solidFill>
                  <a:schemeClr val="accent1"/>
                </a:solidFill>
              </a:rPr>
              <a:t> English Language </a:t>
            </a:r>
            <a:r>
              <a:rPr lang="es-EC" b="1" i="1" dirty="0" err="1">
                <a:solidFill>
                  <a:schemeClr val="accent1"/>
                </a:solidFill>
              </a:rPr>
              <a:t>Class</a:t>
            </a:r>
            <a:r>
              <a:rPr lang="es-EC" b="1" i="1" dirty="0">
                <a:solidFill>
                  <a:schemeClr val="accent1"/>
                </a:solidFill>
              </a:rPr>
              <a:t>: </a:t>
            </a:r>
            <a:r>
              <a:rPr lang="es-EC" b="1" i="1" dirty="0" err="1">
                <a:solidFill>
                  <a:schemeClr val="accent1"/>
                </a:solidFill>
              </a:rPr>
              <a:t>Using</a:t>
            </a:r>
            <a:r>
              <a:rPr lang="es-EC" b="1" i="1" dirty="0">
                <a:solidFill>
                  <a:schemeClr val="accent1"/>
                </a:solidFill>
              </a:rPr>
              <a:t> origami in </a:t>
            </a:r>
            <a:r>
              <a:rPr lang="es-EC" b="1" i="1" dirty="0" err="1">
                <a:solidFill>
                  <a:schemeClr val="accent1"/>
                </a:solidFill>
              </a:rPr>
              <a:t>community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service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projects</a:t>
            </a:r>
            <a:r>
              <a:rPr lang="es-EC" b="1" i="1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0" y="2687142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María Belén Negrete Yanqui</a:t>
            </a:r>
          </a:p>
        </p:txBody>
      </p:sp>
    </p:spTree>
    <p:extLst>
      <p:ext uri="{BB962C8B-B14F-4D97-AF65-F5344CB8AC3E}">
        <p14:creationId xmlns:p14="http://schemas.microsoft.com/office/powerpoint/2010/main" val="2502757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>
                <a:solidFill>
                  <a:schemeClr val="accent1"/>
                </a:solidFill>
              </a:rPr>
              <a:t>STEAM as </a:t>
            </a:r>
            <a:r>
              <a:rPr lang="es-EC" b="1" i="1" dirty="0" err="1">
                <a:solidFill>
                  <a:schemeClr val="accent1"/>
                </a:solidFill>
              </a:rPr>
              <a:t>Potencially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Methodology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to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Improve</a:t>
            </a:r>
            <a:r>
              <a:rPr lang="es-EC" b="1" i="1" dirty="0">
                <a:solidFill>
                  <a:schemeClr val="accent1"/>
                </a:solidFill>
              </a:rPr>
              <a:t> EFL </a:t>
            </a:r>
            <a:r>
              <a:rPr lang="es-EC" b="1" i="1" dirty="0" err="1">
                <a:solidFill>
                  <a:schemeClr val="accent1"/>
                </a:solidFill>
              </a:rPr>
              <a:t>Classes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Nathaly</a:t>
            </a:r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Aisha Alcívar Guevara </a:t>
            </a:r>
          </a:p>
        </p:txBody>
      </p:sp>
    </p:spTree>
    <p:extLst>
      <p:ext uri="{BB962C8B-B14F-4D97-AF65-F5344CB8AC3E}">
        <p14:creationId xmlns:p14="http://schemas.microsoft.com/office/powerpoint/2010/main" val="1481529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>
                <a:solidFill>
                  <a:schemeClr val="accent1"/>
                </a:solidFill>
              </a:rPr>
              <a:t>STEAM as </a:t>
            </a:r>
            <a:r>
              <a:rPr lang="es-EC" b="1" i="1" dirty="0" err="1">
                <a:solidFill>
                  <a:schemeClr val="accent1"/>
                </a:solidFill>
              </a:rPr>
              <a:t>Potencialily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Methodology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to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Improve</a:t>
            </a:r>
            <a:r>
              <a:rPr lang="es-EC" b="1" i="1" dirty="0">
                <a:solidFill>
                  <a:schemeClr val="accent1"/>
                </a:solidFill>
              </a:rPr>
              <a:t> EFL </a:t>
            </a:r>
            <a:r>
              <a:rPr lang="es-EC" b="1" i="1" dirty="0" err="1">
                <a:solidFill>
                  <a:schemeClr val="accent1"/>
                </a:solidFill>
              </a:rPr>
              <a:t>Classes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Elvia Alexandra Delgado Cedeño  </a:t>
            </a:r>
          </a:p>
        </p:txBody>
      </p:sp>
    </p:spTree>
    <p:extLst>
      <p:ext uri="{BB962C8B-B14F-4D97-AF65-F5344CB8AC3E}">
        <p14:creationId xmlns:p14="http://schemas.microsoft.com/office/powerpoint/2010/main" val="391907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>
                <a:solidFill>
                  <a:schemeClr val="accent1"/>
                </a:solidFill>
              </a:rPr>
              <a:t>STEAM as </a:t>
            </a:r>
            <a:r>
              <a:rPr lang="es-EC" b="1" i="1" dirty="0" err="1">
                <a:solidFill>
                  <a:schemeClr val="accent1"/>
                </a:solidFill>
              </a:rPr>
              <a:t>Potenciallity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Methodology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to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Improve</a:t>
            </a:r>
            <a:r>
              <a:rPr lang="es-EC" b="1" i="1" dirty="0">
                <a:solidFill>
                  <a:schemeClr val="accent1"/>
                </a:solidFill>
              </a:rPr>
              <a:t> EFL </a:t>
            </a:r>
            <a:r>
              <a:rPr lang="es-EC" b="1" i="1" dirty="0" err="1">
                <a:solidFill>
                  <a:schemeClr val="accent1"/>
                </a:solidFill>
              </a:rPr>
              <a:t>Classes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Ambar</a:t>
            </a:r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Janaine</a:t>
            </a:r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Menéndez Pico </a:t>
            </a:r>
          </a:p>
        </p:txBody>
      </p:sp>
    </p:spTree>
    <p:extLst>
      <p:ext uri="{BB962C8B-B14F-4D97-AF65-F5344CB8AC3E}">
        <p14:creationId xmlns:p14="http://schemas.microsoft.com/office/powerpoint/2010/main" val="1997172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>
                <a:solidFill>
                  <a:schemeClr val="accent1"/>
                </a:solidFill>
              </a:rPr>
              <a:t>STEAM as </a:t>
            </a:r>
            <a:r>
              <a:rPr lang="es-EC" b="1" i="1" dirty="0" err="1">
                <a:solidFill>
                  <a:schemeClr val="accent1"/>
                </a:solidFill>
              </a:rPr>
              <a:t>Potencially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Methodology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to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Improve</a:t>
            </a:r>
            <a:r>
              <a:rPr lang="es-EC" b="1" i="1" dirty="0">
                <a:solidFill>
                  <a:schemeClr val="accent1"/>
                </a:solidFill>
              </a:rPr>
              <a:t> EFL </a:t>
            </a:r>
            <a:r>
              <a:rPr lang="es-EC" b="1" i="1" dirty="0" err="1">
                <a:solidFill>
                  <a:schemeClr val="accent1"/>
                </a:solidFill>
              </a:rPr>
              <a:t>Classes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Emily </a:t>
            </a:r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Nathalia</a:t>
            </a:r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Peñafiel Chávez </a:t>
            </a:r>
          </a:p>
        </p:txBody>
      </p:sp>
    </p:spTree>
    <p:extLst>
      <p:ext uri="{BB962C8B-B14F-4D97-AF65-F5344CB8AC3E}">
        <p14:creationId xmlns:p14="http://schemas.microsoft.com/office/powerpoint/2010/main" val="1298347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Using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Cartoons</a:t>
            </a:r>
            <a:r>
              <a:rPr lang="es-EC" b="1" i="1" dirty="0">
                <a:solidFill>
                  <a:schemeClr val="accent1"/>
                </a:solidFill>
              </a:rPr>
              <a:t> in </a:t>
            </a:r>
            <a:r>
              <a:rPr lang="es-EC" b="1" i="1" dirty="0" err="1">
                <a:solidFill>
                  <a:schemeClr val="accent1"/>
                </a:solidFill>
              </a:rPr>
              <a:t>Teaching</a:t>
            </a:r>
            <a:r>
              <a:rPr lang="es-EC" b="1" i="1" dirty="0">
                <a:solidFill>
                  <a:schemeClr val="accent1"/>
                </a:solidFill>
              </a:rPr>
              <a:t> English </a:t>
            </a:r>
            <a:r>
              <a:rPr lang="es-EC" b="1" i="1" dirty="0" err="1">
                <a:solidFill>
                  <a:schemeClr val="accent1"/>
                </a:solidFill>
              </a:rPr>
              <a:t>Vocabulary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Fernando </a:t>
            </a:r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Joshue</a:t>
            </a:r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Arias Roldan </a:t>
            </a:r>
          </a:p>
        </p:txBody>
      </p:sp>
    </p:spTree>
    <p:extLst>
      <p:ext uri="{BB962C8B-B14F-4D97-AF65-F5344CB8AC3E}">
        <p14:creationId xmlns:p14="http://schemas.microsoft.com/office/powerpoint/2010/main" val="1078916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Using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Cartoons</a:t>
            </a:r>
            <a:r>
              <a:rPr lang="es-EC" b="1" i="1" dirty="0">
                <a:solidFill>
                  <a:schemeClr val="accent1"/>
                </a:solidFill>
              </a:rPr>
              <a:t> in </a:t>
            </a:r>
            <a:r>
              <a:rPr lang="es-EC" b="1" i="1" dirty="0" err="1">
                <a:solidFill>
                  <a:schemeClr val="accent1"/>
                </a:solidFill>
              </a:rPr>
              <a:t>Teaching</a:t>
            </a:r>
            <a:r>
              <a:rPr lang="es-EC" b="1" i="1" dirty="0">
                <a:solidFill>
                  <a:schemeClr val="accent1"/>
                </a:solidFill>
              </a:rPr>
              <a:t> English </a:t>
            </a:r>
            <a:r>
              <a:rPr lang="es-EC" b="1" i="1" dirty="0" err="1">
                <a:solidFill>
                  <a:schemeClr val="accent1"/>
                </a:solidFill>
              </a:rPr>
              <a:t>Vocabulary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Jaime </a:t>
            </a:r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Josue</a:t>
            </a:r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Delgado </a:t>
            </a:r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Lopez</a:t>
            </a:r>
            <a:endParaRPr lang="es-ES" sz="3600" b="1" dirty="0">
              <a:solidFill>
                <a:schemeClr val="tx1">
                  <a:lumMod val="85000"/>
                  <a:lumOff val="15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707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Soft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Skills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David Daniel Zambrano Posligua</a:t>
            </a:r>
          </a:p>
        </p:txBody>
      </p:sp>
    </p:spTree>
    <p:extLst>
      <p:ext uri="{BB962C8B-B14F-4D97-AF65-F5344CB8AC3E}">
        <p14:creationId xmlns:p14="http://schemas.microsoft.com/office/powerpoint/2010/main" val="3701553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Soft</a:t>
            </a:r>
            <a:r>
              <a:rPr lang="es-EC" b="1" i="1" dirty="0">
                <a:solidFill>
                  <a:schemeClr val="accent1"/>
                </a:solidFill>
              </a:rPr>
              <a:t> </a:t>
            </a:r>
            <a:r>
              <a:rPr lang="es-EC" b="1" i="1" dirty="0" err="1">
                <a:solidFill>
                  <a:schemeClr val="accent1"/>
                </a:solidFill>
              </a:rPr>
              <a:t>Skills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Johanna Elizabeth Bello Piguave, Mg</a:t>
            </a:r>
          </a:p>
        </p:txBody>
      </p:sp>
    </p:spTree>
    <p:extLst>
      <p:ext uri="{BB962C8B-B14F-4D97-AF65-F5344CB8AC3E}">
        <p14:creationId xmlns:p14="http://schemas.microsoft.com/office/powerpoint/2010/main" val="546152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66212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Inclusion</a:t>
            </a:r>
            <a:r>
              <a:rPr lang="es-EC" b="1" i="1" dirty="0">
                <a:solidFill>
                  <a:schemeClr val="accent1"/>
                </a:solidFill>
              </a:rPr>
              <a:t> in English Language </a:t>
            </a:r>
            <a:r>
              <a:rPr lang="es-EC" b="1" i="1" dirty="0" err="1">
                <a:solidFill>
                  <a:schemeClr val="accent1"/>
                </a:solidFill>
              </a:rPr>
              <a:t>Teaching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Jordan</a:t>
            </a:r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Erwin Figueroa Arteaga</a:t>
            </a:r>
          </a:p>
        </p:txBody>
      </p:sp>
    </p:spTree>
    <p:extLst>
      <p:ext uri="{BB962C8B-B14F-4D97-AF65-F5344CB8AC3E}">
        <p14:creationId xmlns:p14="http://schemas.microsoft.com/office/powerpoint/2010/main" val="1409404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Inclusion</a:t>
            </a:r>
            <a:r>
              <a:rPr lang="es-EC" b="1" i="1" dirty="0">
                <a:solidFill>
                  <a:schemeClr val="accent1"/>
                </a:solidFill>
              </a:rPr>
              <a:t> in English Language </a:t>
            </a:r>
            <a:r>
              <a:rPr lang="es-EC" b="1" i="1" dirty="0" err="1">
                <a:solidFill>
                  <a:schemeClr val="accent1"/>
                </a:solidFill>
              </a:rPr>
              <a:t>Teaching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Justin Joel Molina Reyes</a:t>
            </a:r>
          </a:p>
        </p:txBody>
      </p:sp>
    </p:spTree>
    <p:extLst>
      <p:ext uri="{BB962C8B-B14F-4D97-AF65-F5344CB8AC3E}">
        <p14:creationId xmlns:p14="http://schemas.microsoft.com/office/powerpoint/2010/main" val="4229347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Inclusion</a:t>
            </a:r>
            <a:r>
              <a:rPr lang="es-EC" b="1" i="1" dirty="0">
                <a:solidFill>
                  <a:schemeClr val="accent1"/>
                </a:solidFill>
              </a:rPr>
              <a:t> in English Language </a:t>
            </a:r>
            <a:r>
              <a:rPr lang="es-EC" b="1" i="1" dirty="0" err="1">
                <a:solidFill>
                  <a:schemeClr val="accent1"/>
                </a:solidFill>
              </a:rPr>
              <a:t>Teaching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Allison Geovanna Barcia </a:t>
            </a:r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Barcia</a:t>
            </a:r>
            <a:endParaRPr lang="es-ES" sz="3600" b="1" dirty="0">
              <a:solidFill>
                <a:schemeClr val="tx1">
                  <a:lumMod val="85000"/>
                  <a:lumOff val="15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794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C7199-77C0-6C51-399C-6EE389A90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435" y="1755326"/>
            <a:ext cx="9144000" cy="843197"/>
          </a:xfrm>
        </p:spPr>
        <p:txBody>
          <a:bodyPr>
            <a:normAutofit fontScale="90000"/>
          </a:bodyPr>
          <a:lstStyle/>
          <a:p>
            <a:r>
              <a:rPr lang="es-EC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Certificado 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4109D5-779D-2E0A-5F01-0110C4E8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72" y="1150583"/>
            <a:ext cx="11997128" cy="906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Facultad de Educación, Turismo, Artes y Humanidades de la Universidad Laica Eloy Alfaro de Manabí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EC" sz="2000" b="1" i="1" dirty="0"/>
              <a:t>Grupo de Investigación: Innovaciones Pedagógicas para el Desarrollo Sostenible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1DB660-1F34-EAF0-B794-651899C13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50" b="32038"/>
          <a:stretch/>
        </p:blipFill>
        <p:spPr bwMode="auto">
          <a:xfrm>
            <a:off x="4052654" y="187091"/>
            <a:ext cx="2857500" cy="8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E3B0EEA5-3B4C-F64F-1D9C-0B77E64FD571}"/>
              </a:ext>
            </a:extLst>
          </p:cNvPr>
          <p:cNvSpPr txBox="1">
            <a:spLocks/>
          </p:cNvSpPr>
          <p:nvPr/>
        </p:nvSpPr>
        <p:spPr>
          <a:xfrm>
            <a:off x="804469" y="3552201"/>
            <a:ext cx="10987792" cy="5856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/>
              <a:t>Por su participación destacada en las Jornadas de Investigación, Innovaciones y Desarrollo el  2024 con la ponencia titulada: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5F5B2AF-A8C3-7B5B-565C-28DB5611E8C7}"/>
              </a:ext>
            </a:extLst>
          </p:cNvPr>
          <p:cNvSpPr txBox="1">
            <a:spLocks/>
          </p:cNvSpPr>
          <p:nvPr/>
        </p:nvSpPr>
        <p:spPr>
          <a:xfrm>
            <a:off x="299803" y="4712483"/>
            <a:ext cx="11997128" cy="17782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C" sz="1800" dirty="0"/>
              <a:t>Manta,  11 de julio 2024.</a:t>
            </a:r>
          </a:p>
          <a:p>
            <a:pPr algn="l"/>
            <a:r>
              <a:rPr lang="es-EC" sz="1800" dirty="0"/>
              <a:t>                                                      </a:t>
            </a:r>
          </a:p>
          <a:p>
            <a:pPr algn="l"/>
            <a:endParaRPr lang="es-EC" sz="1800" dirty="0"/>
          </a:p>
          <a:p>
            <a:pPr algn="l"/>
            <a:r>
              <a:rPr lang="es-EC" sz="1800" dirty="0"/>
              <a:t>                                            Lic. Verónica Chávez, Mg.                                             Ing. Jorge Corral </a:t>
            </a:r>
            <a:r>
              <a:rPr lang="es-EC" sz="1800" dirty="0" err="1"/>
              <a:t>Joniaux</a:t>
            </a:r>
            <a:r>
              <a:rPr lang="es-EC" sz="1800" dirty="0"/>
              <a:t>, Mg.</a:t>
            </a:r>
          </a:p>
          <a:p>
            <a:pPr algn="l"/>
            <a:r>
              <a:rPr lang="es-EC" sz="1800" dirty="0"/>
              <a:t>                                      Comisión de Investigación PINE                                              Director Carrera Pine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E9033855-0918-4C35-3F34-0528407A0303}"/>
              </a:ext>
            </a:extLst>
          </p:cNvPr>
          <p:cNvSpPr txBox="1">
            <a:spLocks/>
          </p:cNvSpPr>
          <p:nvPr/>
        </p:nvSpPr>
        <p:spPr>
          <a:xfrm>
            <a:off x="904405" y="4126826"/>
            <a:ext cx="10987792" cy="58565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b="1" i="1" dirty="0" err="1">
                <a:solidFill>
                  <a:schemeClr val="accent1"/>
                </a:solidFill>
              </a:rPr>
              <a:t>Implementing</a:t>
            </a:r>
            <a:r>
              <a:rPr lang="es-EC" b="1" i="1" dirty="0">
                <a:solidFill>
                  <a:schemeClr val="accent1"/>
                </a:solidFill>
              </a:rPr>
              <a:t> Project Base </a:t>
            </a:r>
            <a:r>
              <a:rPr lang="es-EC" b="1" i="1" dirty="0" err="1">
                <a:solidFill>
                  <a:schemeClr val="accent1"/>
                </a:solidFill>
              </a:rPr>
              <a:t>Learning</a:t>
            </a:r>
            <a:r>
              <a:rPr lang="es-EC" b="1" i="1" dirty="0">
                <a:solidFill>
                  <a:schemeClr val="accent1"/>
                </a:solidFill>
              </a:rPr>
              <a:t> in </a:t>
            </a:r>
            <a:r>
              <a:rPr lang="es-EC" b="1" i="1" dirty="0" err="1">
                <a:solidFill>
                  <a:schemeClr val="accent1"/>
                </a:solidFill>
              </a:rPr>
              <a:t>Teaching</a:t>
            </a:r>
            <a:r>
              <a:rPr lang="es-EC" b="1" i="1" dirty="0">
                <a:solidFill>
                  <a:schemeClr val="accent1"/>
                </a:solidFill>
              </a:rPr>
              <a:t> English as a </a:t>
            </a:r>
            <a:r>
              <a:rPr lang="es-EC" b="1" i="1" dirty="0" err="1">
                <a:solidFill>
                  <a:schemeClr val="accent1"/>
                </a:solidFill>
              </a:rPr>
              <a:t>Foreing</a:t>
            </a:r>
            <a:r>
              <a:rPr lang="es-EC" b="1" i="1" dirty="0">
                <a:solidFill>
                  <a:schemeClr val="accent1"/>
                </a:solidFill>
              </a:rPr>
              <a:t> Language </a:t>
            </a:r>
            <a:r>
              <a:rPr lang="es-EC" b="1" i="1" dirty="0" err="1">
                <a:solidFill>
                  <a:schemeClr val="accent1"/>
                </a:solidFill>
              </a:rPr>
              <a:t>Lessons</a:t>
            </a:r>
            <a:endParaRPr lang="es-EC" b="1" i="1" dirty="0">
              <a:solidFill>
                <a:schemeClr val="accent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7E6877-7FCC-92C1-FDB6-99012203960F}"/>
              </a:ext>
            </a:extLst>
          </p:cNvPr>
          <p:cNvSpPr txBox="1"/>
          <p:nvPr/>
        </p:nvSpPr>
        <p:spPr>
          <a:xfrm>
            <a:off x="4611081" y="2457355"/>
            <a:ext cx="337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Otorgado 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D93468-AC06-28EF-9FC1-3A2A41898751}"/>
              </a:ext>
            </a:extLst>
          </p:cNvPr>
          <p:cNvSpPr txBox="1"/>
          <p:nvPr/>
        </p:nvSpPr>
        <p:spPr>
          <a:xfrm>
            <a:off x="1203851" y="2690468"/>
            <a:ext cx="1018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Anthony </a:t>
            </a:r>
            <a:r>
              <a:rPr lang="es-E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Reiniero</a:t>
            </a:r>
            <a:r>
              <a:rPr lang="es-E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 Abad Murillo</a:t>
            </a:r>
          </a:p>
        </p:txBody>
      </p:sp>
    </p:spTree>
    <p:extLst>
      <p:ext uri="{BB962C8B-B14F-4D97-AF65-F5344CB8AC3E}">
        <p14:creationId xmlns:p14="http://schemas.microsoft.com/office/powerpoint/2010/main" val="24666574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26DCF69674D44889CB2DA2F938701D" ma:contentTypeVersion="16" ma:contentTypeDescription="Crear nuevo documento." ma:contentTypeScope="" ma:versionID="0edaeb2bc8b81f270e220f3f5ee137d1">
  <xsd:schema xmlns:xsd="http://www.w3.org/2001/XMLSchema" xmlns:xs="http://www.w3.org/2001/XMLSchema" xmlns:p="http://schemas.microsoft.com/office/2006/metadata/properties" xmlns:ns3="b4a40284-5281-4823-9e51-b4d22c60cb30" xmlns:ns4="4191a9ef-324a-457f-815d-baea0589b5aa" targetNamespace="http://schemas.microsoft.com/office/2006/metadata/properties" ma:root="true" ma:fieldsID="727ead65f1dcbff194ec2e383b54719e" ns3:_="" ns4:_="">
    <xsd:import namespace="b4a40284-5281-4823-9e51-b4d22c60cb30"/>
    <xsd:import namespace="4191a9ef-324a-457f-815d-baea0589b5a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a40284-5281-4823-9e51-b4d22c60cb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91a9ef-324a-457f-815d-baea0589b5a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a40284-5281-4823-9e51-b4d22c60cb3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36C958-6D0C-4145-BA51-A4A74354A4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a40284-5281-4823-9e51-b4d22c60cb30"/>
    <ds:schemaRef ds:uri="4191a9ef-324a-457f-815d-baea0589b5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32B5C9-59D1-4974-8F2B-92C0FD6CED35}">
  <ds:schemaRefs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4191a9ef-324a-457f-815d-baea0589b5aa"/>
    <ds:schemaRef ds:uri="http://schemas.microsoft.com/office/2006/metadata/properties"/>
    <ds:schemaRef ds:uri="http://purl.org/dc/dcmitype/"/>
    <ds:schemaRef ds:uri="http://schemas.openxmlformats.org/package/2006/metadata/core-properties"/>
    <ds:schemaRef ds:uri="b4a40284-5281-4823-9e51-b4d22c60cb3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0F325BA-5F7A-4564-8EA6-CACC20923A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</TotalTime>
  <Words>2216</Words>
  <Application>Microsoft Office PowerPoint</Application>
  <PresentationFormat>Panorámica</PresentationFormat>
  <Paragraphs>276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Bookman Old Style</vt:lpstr>
      <vt:lpstr>Tema de Office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  <vt:lpstr>Certificado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VILLAFUERTE HOLGUIN JHONNY SAULO ALBERTO</dc:creator>
  <cp:lastModifiedBy>CHAVEZ ZAMBRANO VERONICA VANESSA</cp:lastModifiedBy>
  <cp:revision>19</cp:revision>
  <cp:lastPrinted>2024-08-28T20:31:10Z</cp:lastPrinted>
  <dcterms:created xsi:type="dcterms:W3CDTF">2024-08-21T14:42:39Z</dcterms:created>
  <dcterms:modified xsi:type="dcterms:W3CDTF">2024-08-28T20:35:25Z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0x0101001626DCF69674D44889CB2DA2F938701D</vt:lpwstr>
  </property>
</Properties>
</file>