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88" r:id="rId5"/>
    <p:sldId id="294" r:id="rId6"/>
    <p:sldId id="291" r:id="rId7"/>
    <p:sldId id="268" r:id="rId8"/>
    <p:sldId id="269" r:id="rId9"/>
    <p:sldId id="295" r:id="rId10"/>
    <p:sldId id="273" r:id="rId11"/>
    <p:sldId id="275" r:id="rId12"/>
    <p:sldId id="277" r:id="rId13"/>
    <p:sldId id="279" r:id="rId14"/>
    <p:sldId id="292" r:id="rId15"/>
    <p:sldId id="283" r:id="rId16"/>
    <p:sldId id="293" r:id="rId1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A8FCB-70D4-1A84-6921-9E3135A2E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545D71-F2A5-02EC-5F3B-F2A175FA0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0D78F2-0AEF-351A-84B6-5FF7DC8F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FA9518-36C2-813F-2C46-517852F3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81910C-3A1B-7337-76BA-72E9BDFC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860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EEE5F-648A-7FB6-BC5C-509FEDAB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27A202-D83D-C67C-A35D-53EBFD37D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6924B1-82DC-0C20-B90C-D74CE7C6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DCC89F-A6CE-987C-845B-6B857E14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16065D-8FFE-F471-7994-A902AE8F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798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82CF1-4600-B2C3-7066-99157531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891EFC-BF85-7BE4-0EB6-26EC7662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EC710-BB46-AAA4-40A5-15A1539C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FB3929-EAE2-7BBA-BFAF-20EB0BEB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0014A9-513C-D2E7-76B7-2D3DC9D1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9327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97A14-207D-D199-A59D-C99BFC64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31B7F6-648B-F8EC-6DDB-73D92ACB5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FC5C88-2EB4-A0BA-4EF4-3B16BD62D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371C04-B4BC-9857-3332-59B4B342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9845BE-C61B-DE63-64D1-F70D1958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32D622-6B09-D3E0-D9B8-9E793DE0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9556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7A485-DEF6-911C-4FF3-900D8CCA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0FC47-3692-867A-186F-54BD787A0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483A78-4323-C878-5436-5AAEF2F3A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F198FC-5602-3CBB-93C0-9E1EB44DC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FFEF75-36C0-EF1F-C21A-92D07F9AE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A33483-E4E0-67B0-EFA2-AAC97EED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664AAF-EC3C-F823-CE1E-99757CFE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8DA7D32-E839-D2AD-7759-DFF73FA0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331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7C75A-3FAD-C376-93B2-4C6CA8EA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54F5A9-B633-0E21-D9EC-ECE4150E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AC6171-E826-BDD4-E721-2342B598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D32CB5-8531-90D7-0683-4BAFCA1F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3141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2B9ACF-2199-C49F-1BA0-23AE52E9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EDAAC6-BBB9-5037-BDBC-2FB26166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4BBAC3-CD5B-E8F6-8E2B-548A1399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670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5B908-B04B-4B30-4C8C-ACC26E4C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8921F-0EC1-87C8-AB73-8365469FA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DF165D-3E2E-5CAE-638F-EC9767C76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B4E16B-A822-EAD9-E289-94C74B44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573DF-23CD-C296-2AA4-E2FC3DBC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3317C2-CEDA-9F89-A8ED-B5D70DB6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98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DA82C-9C0A-1381-3C6A-196D3F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36CF03-21B3-E0D4-BE3A-1F099C130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850187-D8D5-07F3-3D90-49C25F607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80CDB3-4F32-E2C6-06D2-0B18CF9D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6999D4-6675-0282-0FF1-98AC4EA4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2118F4-67F0-0590-5A52-A542D388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473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ABB7C-CBC7-1ACA-3525-0A254148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8A0155-F8FE-BE50-7794-17695FB5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86704-B62A-E8EB-D3B7-348B532B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C8A36-3142-00DC-265A-BD5AF431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6A1F1A-778D-AEDC-0B34-7DEE280B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8093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C412DD-85D7-54C1-D323-A7DCED7BA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DEC3E3-741B-C761-A40D-2C4CDF3A8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E61CEA-E590-286A-8359-E241B5EA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59E91E-F55A-73D3-7A5C-EC8C0FD3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316909-F595-EDC7-5D91-E6A01557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85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FE139A-70BC-ADB2-D2A0-4AA70A3E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1D748B-7BEF-60CC-F714-17518EEC5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9A98BF-37E0-5F61-9BC1-C2DC9103D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9C441-8E2C-498A-AFC9-8111445E5EE1}" type="datetimeFigureOut">
              <a:rPr lang="es-EC" smtClean="0"/>
              <a:t>16/9/2026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7788E-85C1-DD78-7354-49472C955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95CD06-36DA-2772-B714-FC406A603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60E42-28A3-4145-B91F-0A49B97EBD8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1469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4CBF4-7397-6AE7-BA9C-C411BA33C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81000"/>
            <a:ext cx="10668000" cy="1143000"/>
          </a:xfrm>
        </p:spPr>
        <p:txBody>
          <a:bodyPr/>
          <a:lstStyle/>
          <a:p>
            <a:r>
              <a:rPr lang="es-ES" dirty="0"/>
              <a:t>PORTAL PINE - Vinculación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6A4BEF-626E-C8D3-C625-1A5AEC8FB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587500"/>
            <a:ext cx="10668000" cy="698500"/>
          </a:xfrm>
        </p:spPr>
        <p:txBody>
          <a:bodyPr/>
          <a:lstStyle/>
          <a:p>
            <a:r>
              <a:rPr lang="es-EC" dirty="0"/>
              <a:t>Guía para pasantes-instructores de Vinculación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70E04E-63A7-A8B8-9932-90C64F7B0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52" y="2476500"/>
            <a:ext cx="10366294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9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C376C-FE3C-FA3F-3EA0-E5066103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0. Antes de empezar: conceptos clave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6B8E6A-5D98-D708-A548-79FF1A44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s-EC" sz="2000" b="1" dirty="0"/>
              <a:t>Espacio</a:t>
            </a:r>
            <a:r>
              <a:rPr lang="es-EC" sz="2000" dirty="0"/>
              <a:t> — el club/aula donde trabajas (ej. "Club de Inglés A"). Lo crea tu profesor y te asigna como instructor. Todo lo que registras se hace dentro de un espacio.</a:t>
            </a:r>
          </a:p>
          <a:p>
            <a:pPr marL="457200" indent="-457200">
              <a:buFont typeface="Arial"/>
              <a:buChar char="•"/>
            </a:pPr>
            <a:r>
              <a:rPr lang="es-EC" sz="2000" b="1" dirty="0"/>
              <a:t>Beneficiario</a:t>
            </a:r>
            <a:r>
              <a:rPr lang="es-EC" sz="2000" dirty="0"/>
              <a:t> — la persona externa (niño, joven, adulto de la comunidad) que recibe el club/clase. Nunca tiene cuenta ni contraseña: solo tú y tu profesor lo gestionan.</a:t>
            </a:r>
          </a:p>
          <a:p>
            <a:pPr marL="457200" indent="-457200">
              <a:buFont typeface="Arial"/>
              <a:buChar char="•"/>
            </a:pPr>
            <a:r>
              <a:rPr lang="es-EC" sz="2000" b="1" dirty="0"/>
              <a:t>Tú (pasante)</a:t>
            </a:r>
            <a:r>
              <a:rPr lang="es-EC" sz="2000" dirty="0"/>
              <a:t> — sí tienes cuenta en el Portal, creada por tu profesor con tu nombre y correo. La activas la primera vez que entras.</a:t>
            </a:r>
          </a:p>
        </p:txBody>
      </p:sp>
    </p:spTree>
    <p:extLst>
      <p:ext uri="{BB962C8B-B14F-4D97-AF65-F5344CB8AC3E}">
        <p14:creationId xmlns:p14="http://schemas.microsoft.com/office/powerpoint/2010/main" val="374776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701A9-770E-E23A-5D09-55DD8019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1. Primer ingreso y activación de tu cuenta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D80F62-D93E-31B6-6E92-2DD17F19D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C" sz="1800" i="1" dirty="0"/>
              <a:t>Tu profesor ya te registró. No hay pantalla de "registro": activas tu cuenta la primera vez que entras.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Ingresa a </a:t>
            </a:r>
            <a:r>
              <a:rPr lang="es-EC" sz="1800" b="1" dirty="0"/>
              <a:t>https://carrerapineuleam.vercel.app/portal/login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En </a:t>
            </a:r>
            <a:r>
              <a:rPr lang="es-EC" sz="1800" b="1" dirty="0"/>
              <a:t>Correo Electrónico</a:t>
            </a:r>
            <a:r>
              <a:rPr lang="es-EC" sz="1800" dirty="0"/>
              <a:t>, escribe el correo que tu profesor registró.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En </a:t>
            </a:r>
            <a:r>
              <a:rPr lang="es-EC" sz="1800" b="1" dirty="0"/>
              <a:t>Contraseña</a:t>
            </a:r>
            <a:r>
              <a:rPr lang="es-EC" sz="1800" dirty="0"/>
              <a:t>, escribe la clave (</a:t>
            </a:r>
            <a:r>
              <a:rPr lang="es-EC" sz="1800" b="1" dirty="0"/>
              <a:t>Pine2026</a:t>
            </a:r>
            <a:r>
              <a:rPr lang="es-EC" sz="1800" dirty="0"/>
              <a:t>) que quieras usar de ahora en adelante: la primera vez que la escribas, queda guardada como definitiva.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Clic en </a:t>
            </a:r>
            <a:r>
              <a:rPr lang="es-EC" sz="1800" b="1" dirty="0"/>
              <a:t>"Ingresar al Portal"</a:t>
            </a:r>
            <a:r>
              <a:rPr lang="es-EC" sz="1800" dirty="0"/>
              <a:t> → entras directo a tu Dashboard.</a:t>
            </a:r>
          </a:p>
          <a:p>
            <a:pPr>
              <a:buNone/>
            </a:pPr>
            <a:r>
              <a:rPr lang="es-EC" sz="1600" i="1" dirty="0">
                <a:solidFill>
                  <a:srgbClr val="E97132"/>
                </a:solidFill>
              </a:rPr>
              <a:t>⚠ Si te equivocas la primera vez, esa clave queda guardada — pide a tu profesor que reactive tu cuenta.</a:t>
            </a:r>
          </a:p>
        </p:txBody>
      </p:sp>
    </p:spTree>
    <p:extLst>
      <p:ext uri="{BB962C8B-B14F-4D97-AF65-F5344CB8AC3E}">
        <p14:creationId xmlns:p14="http://schemas.microsoft.com/office/powerpoint/2010/main" val="206719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03234-9D1B-6DA6-D65F-8F032FC9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2. Tu Dashboard (pantalla de inicio)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34CA41-EBA8-0163-4696-4CBCAD525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800" i="1" dirty="0"/>
              <a:t>Al entrar verás tarjetas según lo que tengas asignado. Como pasante de Vinculación normalmente verás: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Registros de Vinculación</a:t>
            </a:r>
            <a:r>
              <a:rPr lang="es-EC" sz="1800" dirty="0"/>
              <a:t> — asistencia, beneficiarios, test MCER, encuesta, difusión (el corazón de tu trabajo diario).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📊 Mi Avance</a:t>
            </a:r>
            <a:r>
              <a:rPr lang="es-EC" sz="1800" dirty="0"/>
              <a:t> — tus horas acreditables (podcast </a:t>
            </a:r>
            <a:r>
              <a:rPr lang="es-EC" sz="1800" b="1" dirty="0">
                <a:solidFill>
                  <a:srgbClr val="E97132"/>
                </a:solidFill>
              </a:rPr>
              <a:t>🆕 + asistencia</a:t>
            </a:r>
            <a:r>
              <a:rPr lang="es-EC" sz="1800" dirty="0"/>
              <a:t>), espacios asignados, beneficiarios y evaluaciones registradas. Botón "» Ver mi avance completo".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Investigación (Vinculación)</a:t>
            </a:r>
            <a:r>
              <a:rPr lang="es-EC" sz="1800" dirty="0"/>
              <a:t> — solo si tu profesor te habilitó este módulo. Botón "» Reportar Actividades".</a:t>
            </a:r>
          </a:p>
        </p:txBody>
      </p:sp>
    </p:spTree>
    <p:extLst>
      <p:ext uri="{BB962C8B-B14F-4D97-AF65-F5344CB8AC3E}">
        <p14:creationId xmlns:p14="http://schemas.microsoft.com/office/powerpoint/2010/main" val="340801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3AF0C-89A3-4F99-E2F7-9898DFEF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4. Registrar Asistencia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3E321-458B-74B5-9EB3-9300ABC1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600" i="1" dirty="0"/>
              <a:t>Ruta: Dashboard → "Registros de Vinculación" → "» Registrar Asistencia"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Espacio</a:t>
            </a:r>
            <a:r>
              <a:rPr lang="es-EC" sz="1600" dirty="0"/>
              <a:t> → selecciona tu club/aula. </a:t>
            </a:r>
            <a:r>
              <a:rPr lang="es-EC" sz="1600" b="1" dirty="0"/>
              <a:t>Fecha</a:t>
            </a:r>
            <a:r>
              <a:rPr lang="es-EC" sz="1600" dirty="0"/>
              <a:t> → elige la fecha de la sesión.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>
                <a:solidFill>
                  <a:srgbClr val="E97132"/>
                </a:solidFill>
              </a:rPr>
              <a:t>🆕 Hora de inicio</a:t>
            </a:r>
            <a:r>
              <a:rPr lang="es-EC" sz="1600" dirty="0"/>
              <a:t> / </a:t>
            </a:r>
            <a:r>
              <a:rPr lang="es-EC" sz="1600" b="1" dirty="0">
                <a:solidFill>
                  <a:srgbClr val="E97132"/>
                </a:solidFill>
              </a:rPr>
              <a:t>Hora de fin</a:t>
            </a:r>
            <a:r>
              <a:rPr lang="es-EC" sz="1600" dirty="0"/>
              <a:t> (obligatorias) → la duración real de la sesión se acredita como horas al aprobarse.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>
                <a:solidFill>
                  <a:srgbClr val="E97132"/>
                </a:solidFill>
              </a:rPr>
              <a:t>🆕 Foto de evidencia (obligatoria)</a:t>
            </a:r>
            <a:r>
              <a:rPr lang="es-EC" sz="1600" dirty="0"/>
              <a:t> → sube una foto de la sesión; el sistema la comprime automáticamente, no necesitas reducirla tú.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Beneficiarios presentes</a:t>
            </a:r>
            <a:r>
              <a:rPr lang="es-EC" sz="1600" dirty="0"/>
              <a:t> → marca ✅ a cada uno que asistió. </a:t>
            </a:r>
            <a:r>
              <a:rPr lang="es-EC" sz="1600" b="1" dirty="0"/>
              <a:t>Observaciones</a:t>
            </a:r>
            <a:r>
              <a:rPr lang="es-EC" sz="1600" dirty="0"/>
              <a:t> (opcional) → texto libre. Clic en </a:t>
            </a:r>
            <a:r>
              <a:rPr lang="es-EC" sz="1600" b="1" dirty="0"/>
              <a:t>"Guardar Asistencia"</a:t>
            </a:r>
            <a:r>
              <a:rPr lang="es-EC" sz="16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C" sz="1500" b="1" dirty="0">
                <a:solidFill>
                  <a:srgbClr val="156082"/>
                </a:solidFill>
              </a:rPr>
              <a:t>📌 Tip: </a:t>
            </a:r>
            <a:r>
              <a:rPr lang="es-EC" sz="1500" i="1" dirty="0"/>
              <a:t>guarda tú también tus fotos de evidencia (celular o correo) — te servirán a futuro para tus informes de vinculación.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C" sz="1500" b="1" dirty="0">
                <a:solidFill>
                  <a:srgbClr val="E97132"/>
                </a:solidFill>
              </a:rPr>
              <a:t>🆕 Qué pasa después: </a:t>
            </a:r>
            <a:r>
              <a:rPr lang="es-EC" sz="1500" i="1" dirty="0"/>
              <a:t>queda pendiente de aprobación del profesor — no se pierde ni hay que repetirlo. Tus horas se acreditan recién cuando se aprueba (ver siguiente diapositiva).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C" sz="1500" b="1" i="1" dirty="0">
                <a:solidFill>
                  <a:srgbClr val="E97132"/>
                </a:solidFill>
              </a:rPr>
              <a:t>⚠ Máximo 48 horas después de la sesión para registrar la asistencia. Se recomienda hacerlo en el mismo momento.</a:t>
            </a:r>
          </a:p>
        </p:txBody>
      </p:sp>
    </p:spTree>
    <p:extLst>
      <p:ext uri="{BB962C8B-B14F-4D97-AF65-F5344CB8AC3E}">
        <p14:creationId xmlns:p14="http://schemas.microsoft.com/office/powerpoint/2010/main" val="187166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38AC2-0DFE-A698-4687-DF698324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4.1 Horas acreditables por asistencia </a:t>
            </a:r>
            <a:r>
              <a:rPr lang="es-EC" dirty="0">
                <a:solidFill>
                  <a:srgbClr val="E97132"/>
                </a:solidFill>
              </a:rPr>
              <a:t>🆕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1A77D-5162-778F-48AA-6A50CF567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s-EC" sz="1900" dirty="0"/>
              <a:t>La duración de cada sesión (hora de fin − hora de inicio) se acredita como horas tuyas y de cualquier otro instructor asignado al mismo espacio.</a:t>
            </a:r>
          </a:p>
          <a:p>
            <a:pPr marL="457200" indent="-457200">
              <a:buFont typeface="Arial"/>
              <a:buChar char="•"/>
            </a:pPr>
            <a:r>
              <a:rPr lang="es-EC" sz="1900" b="1" dirty="0"/>
              <a:t>Pero solo cuando el profesor aprueba el registro.</a:t>
            </a:r>
            <a:r>
              <a:rPr lang="es-EC" sz="1900" dirty="0"/>
              <a:t> Si el profesor rechaza una sesión, esas horas no se acreditan (o se retiran si ya estaban acreditadas).</a:t>
            </a:r>
          </a:p>
          <a:p>
            <a:pPr marL="457200" indent="-457200">
              <a:buFont typeface="Arial"/>
              <a:buChar char="•"/>
            </a:pPr>
            <a:r>
              <a:rPr lang="es-EC" sz="1900" dirty="0"/>
              <a:t>Puedes ver tus horas de asistencia (aprobadas y pendientes) en "📊 Mi Avance".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s-EC" sz="1800" b="1" dirty="0"/>
              <a:t>3.2 Qué revisa tu profesor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En un solo bloque por sesión: la foto que subiste, el espacio, fecha y horario, y cuántos beneficiarios marcaste presentes.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Puede </a:t>
            </a:r>
            <a:r>
              <a:rPr lang="es-EC" sz="1800" b="1" dirty="0"/>
              <a:t>Aprobar</a:t>
            </a:r>
            <a:r>
              <a:rPr lang="es-EC" sz="1800" dirty="0"/>
              <a:t> o </a:t>
            </a:r>
            <a:r>
              <a:rPr lang="es-EC" sz="1800" b="1" dirty="0"/>
              <a:t>Rechazar</a:t>
            </a:r>
            <a:r>
              <a:rPr lang="es-EC" sz="1800" dirty="0"/>
              <a:t> (con motivo).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No necesitas hacer nada de tu parte salvo esperar — si te rechazan un registro por error de datos, coordina con tu profesor cómo corregirlo.</a:t>
            </a:r>
          </a:p>
        </p:txBody>
      </p:sp>
    </p:spTree>
    <p:extLst>
      <p:ext uri="{BB962C8B-B14F-4D97-AF65-F5344CB8AC3E}">
        <p14:creationId xmlns:p14="http://schemas.microsoft.com/office/powerpoint/2010/main" val="4134458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B3E5C-153B-A1A1-18B1-777960A8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3. Registrar Beneficiarios (1/2)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46711-A6EC-1C2C-735F-04C06073F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800" i="1" dirty="0"/>
              <a:t>Ruta: Dashboard → "Registros de Vinculación" → "» Registrar Beneficiarios". Primero selecciona tu Espacio arriba. Hay 2 pestañas: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Pestaña "Asignar existente"</a:t>
            </a:r>
            <a:r>
              <a:rPr lang="es-EC" sz="1800" dirty="0"/>
              <a:t> — cuando el beneficiario ya está registrado en el sistema (otro espacio o ciclo).</a:t>
            </a:r>
          </a:p>
          <a:p>
            <a:pPr marL="914400" indent="-457200">
              <a:buFont typeface="Arial"/>
              <a:buChar char="–"/>
            </a:pPr>
            <a:r>
              <a:rPr lang="es-EC" sz="1600" dirty="0"/>
              <a:t>Marca ✅ los beneficiarios que quieres agregar a tu espacio.</a:t>
            </a:r>
          </a:p>
          <a:p>
            <a:pPr marL="914400" indent="-457200">
              <a:buFont typeface="Arial"/>
              <a:buChar char="–"/>
            </a:pPr>
            <a:r>
              <a:rPr lang="es-EC" sz="1600" dirty="0"/>
              <a:t>Clic en </a:t>
            </a:r>
            <a:r>
              <a:rPr lang="es-EC" sz="1600" b="1" dirty="0"/>
              <a:t>"Asignar Seleccionados"</a:t>
            </a:r>
            <a:r>
              <a:rPr lang="es-EC" sz="1600" dirty="0"/>
              <a:t>.</a:t>
            </a:r>
          </a:p>
          <a:p>
            <a:pPr marL="914400" indent="-457200">
              <a:buFont typeface="Arial"/>
              <a:buChar char="–"/>
            </a:pPr>
            <a:r>
              <a:rPr lang="es-EC" sz="1600" dirty="0"/>
              <a:t>Abajo puedes ver "Ya inscritos en este espacio" con el conteo actual.</a:t>
            </a:r>
          </a:p>
        </p:txBody>
      </p:sp>
    </p:spTree>
    <p:extLst>
      <p:ext uri="{BB962C8B-B14F-4D97-AF65-F5344CB8AC3E}">
        <p14:creationId xmlns:p14="http://schemas.microsoft.com/office/powerpoint/2010/main" val="316970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21E9F-738B-0B5E-F668-1820C0FB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3. Registrar Beneficiarios (2/2)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01A20-1A85-AEB2-850F-523B3F014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800" b="1" dirty="0"/>
              <a:t>Pestaña "Registrar nuevo"</a:t>
            </a:r>
            <a:r>
              <a:rPr lang="es-EC" sz="1800" dirty="0"/>
              <a:t> — cuando el beneficiario nunca ha estado en el sistema.</a:t>
            </a:r>
          </a:p>
          <a:p>
            <a:pPr marL="457200" indent="-457200">
              <a:buFont typeface="Arial"/>
              <a:buChar char="•"/>
            </a:pPr>
            <a:r>
              <a:rPr lang="es-EC" sz="1600" dirty="0"/>
              <a:t>Nombres / Apellidos (obligatorio), Contacto (teléfono), Email (opcional), Edad.</a:t>
            </a:r>
          </a:p>
          <a:p>
            <a:pPr marL="457200" indent="-457200">
              <a:buFont typeface="Arial"/>
              <a:buChar char="•"/>
            </a:pPr>
            <a:r>
              <a:rPr lang="es-EC" sz="1600" dirty="0"/>
              <a:t>Checkbox "Tiene discapacidad" → si lo marcas, aparece el campo "¿Cuál?".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Situación ocupacional</a:t>
            </a:r>
            <a:r>
              <a:rPr lang="es-EC" sz="1600" dirty="0"/>
              <a:t> → Solo estudia / Estudia y trabaja / Solo trabaja / Desempleado y no estudia.</a:t>
            </a:r>
          </a:p>
          <a:p>
            <a:pPr marL="914400" indent="-457200">
              <a:buFont typeface="Arial"/>
              <a:buChar char="–"/>
            </a:pPr>
            <a:r>
              <a:rPr lang="es-EC" sz="1500" dirty="0"/>
              <a:t>Si "trabaja" → aparece "Rol que ejerce". Si "estudia" → aparece "Nivel educativo" (y si es Universidad, "Carrera" y "Curso/semestre").</a:t>
            </a:r>
          </a:p>
          <a:p>
            <a:pPr marL="457200" indent="-457200">
              <a:buFont typeface="Arial"/>
              <a:buChar char="•"/>
            </a:pPr>
            <a:r>
              <a:rPr lang="es-EC" sz="1600" dirty="0"/>
              <a:t>Clic en </a:t>
            </a:r>
            <a:r>
              <a:rPr lang="es-EC" sz="1600" b="1" dirty="0"/>
              <a:t>"Registrar y Asignar a este Espacio"</a:t>
            </a:r>
            <a:r>
              <a:rPr lang="es-EC" sz="1600" dirty="0"/>
              <a:t> — queda inscrito automáticamente, sin paso extra.</a:t>
            </a:r>
          </a:p>
        </p:txBody>
      </p:sp>
    </p:spTree>
    <p:extLst>
      <p:ext uri="{BB962C8B-B14F-4D97-AF65-F5344CB8AC3E}">
        <p14:creationId xmlns:p14="http://schemas.microsoft.com/office/powerpoint/2010/main" val="245315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48F8A-EC87-635B-10F4-3F7342FD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4. Aplicar el Test de Nivelación MCER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CADF5C-338A-6145-060A-4AEA5DE94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700" i="1" dirty="0"/>
              <a:t>Ruta: Dashboard → "Registros de Vinculación" → "» Test MCER"</a:t>
            </a:r>
          </a:p>
          <a:p>
            <a:pPr marL="457200" indent="-457200">
              <a:buFont typeface="Arial"/>
              <a:buChar char="•"/>
            </a:pPr>
            <a:r>
              <a:rPr lang="es-EC" sz="1700" b="1" dirty="0"/>
              <a:t>Espacio</a:t>
            </a:r>
            <a:r>
              <a:rPr lang="es-EC" sz="1700" dirty="0"/>
              <a:t> y </a:t>
            </a:r>
            <a:r>
              <a:rPr lang="es-EC" sz="1700" b="1" dirty="0"/>
              <a:t>Beneficiario Evaluado</a:t>
            </a:r>
            <a:r>
              <a:rPr lang="es-EC" sz="1700" dirty="0"/>
              <a:t> → selecciona de la lista.</a:t>
            </a:r>
          </a:p>
          <a:p>
            <a:pPr marL="457200" indent="-457200">
              <a:buFont typeface="Arial"/>
              <a:buChar char="•"/>
            </a:pPr>
            <a:r>
              <a:rPr lang="es-EC" sz="1700" b="1" dirty="0"/>
              <a:t>Momento del Test</a:t>
            </a:r>
            <a:r>
              <a:rPr lang="es-EC" sz="1700" dirty="0"/>
              <a:t> → Pre-Test (Inicial) al empezar el ciclo/club, Post-Test (Final) al terminar.</a:t>
            </a:r>
          </a:p>
          <a:p>
            <a:pPr marL="457200" indent="-457200">
              <a:buFont typeface="Arial"/>
              <a:buChar char="•"/>
            </a:pPr>
            <a:r>
              <a:rPr lang="es-EC" sz="1700" b="1" dirty="0">
                <a:solidFill>
                  <a:srgbClr val="E97132"/>
                </a:solidFill>
              </a:rPr>
              <a:t>🆕 Si elegiste Post-Test</a:t>
            </a:r>
            <a:r>
              <a:rPr lang="es-EC" sz="1700" dirty="0"/>
              <a:t> → la Encuesta de Satisfacción se vuelve obligatoria en el mismo envío (ver siguiente diapositiva).</a:t>
            </a:r>
          </a:p>
          <a:p>
            <a:pPr marL="457200" indent="-457200">
              <a:buFont typeface="Arial"/>
              <a:buChar char="•"/>
            </a:pPr>
            <a:r>
              <a:rPr lang="es-EC" sz="1700" b="1" dirty="0"/>
              <a:t>Foto / Evidencia Física</a:t>
            </a:r>
            <a:r>
              <a:rPr lang="es-EC" sz="1700" dirty="0"/>
              <a:t> (opcional) → si aplicaste el test en papel, sube la foto.</a:t>
            </a:r>
          </a:p>
          <a:p>
            <a:pPr marL="457200" indent="-457200">
              <a:buFont typeface="Arial"/>
              <a:buChar char="•"/>
            </a:pPr>
            <a:r>
              <a:rPr lang="es-EC" sz="1700" dirty="0"/>
              <a:t>Responde todas las preguntas (opción múltiple + audio con micrófono). Clic en </a:t>
            </a:r>
            <a:r>
              <a:rPr lang="es-EC" sz="1700" b="1" dirty="0"/>
              <a:t>"Enviar y Evaluar"</a:t>
            </a:r>
            <a:r>
              <a:rPr lang="es-EC" sz="1700" dirty="0"/>
              <a:t> (</a:t>
            </a:r>
            <a:r>
              <a:rPr lang="es-EC" sz="1700" b="1" dirty="0">
                <a:solidFill>
                  <a:srgbClr val="E97132"/>
                </a:solidFill>
              </a:rPr>
              <a:t>🆕 "Enviar Test + Encuesta"</a:t>
            </a:r>
            <a:r>
              <a:rPr lang="es-EC" sz="1700" dirty="0"/>
              <a:t> si es Post-Test).</a:t>
            </a:r>
          </a:p>
          <a:p>
            <a:pPr>
              <a:buNone/>
            </a:pPr>
            <a:r>
              <a:rPr lang="es-EC" sz="1500" i="1" dirty="0"/>
              <a:t>El sistema calcula el puntaje (/100), el desglose Gramática/Lectura/Oral y el nivel MCER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3447792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026BA-9851-B08E-2B47-2D51A43E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Alternativa: enlace/QR sin login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EB2F5-F737-E537-CA48-CCD4F7AE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800" i="1" dirty="0"/>
              <a:t>El beneficiario responde directamente desde su celular, sin necesitar cuenta.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Test MCER</a:t>
            </a:r>
            <a:r>
              <a:rPr lang="es-EC" sz="1800" dirty="0"/>
              <a:t> — botones "🔗 QR Pre-Test" (se habilita al elegir espacio) y "🔗 QR Post-Test" (se habilita al elegir beneficiario), un solo uso.</a:t>
            </a:r>
          </a:p>
          <a:p>
            <a:pPr marL="457200" indent="-457200">
              <a:buFont typeface="Arial"/>
              <a:buChar char="•"/>
            </a:pPr>
            <a:r>
              <a:rPr lang="es-EC" sz="1800" b="1" dirty="0"/>
              <a:t>Encuesta</a:t>
            </a:r>
            <a:r>
              <a:rPr lang="es-EC" sz="1800" dirty="0"/>
              <a:t> — mismo mecanismo con botones "🔗 QR Pre-Encuesta" y "🔗 QR Post-Encuesta".</a:t>
            </a:r>
          </a:p>
          <a:p>
            <a:pPr marL="457200" indent="-457200">
              <a:buFont typeface="Arial"/>
              <a:buChar char="•"/>
            </a:pPr>
            <a:r>
              <a:rPr lang="es-EC" sz="1800" dirty="0"/>
              <a:t>En ambos casos: clic en el botón → aparece un modal con el QR y el link → puedes copiarlo o compartirlo por WhatsApp.</a:t>
            </a:r>
          </a:p>
        </p:txBody>
      </p:sp>
    </p:spTree>
    <p:extLst>
      <p:ext uri="{BB962C8B-B14F-4D97-AF65-F5344CB8AC3E}">
        <p14:creationId xmlns:p14="http://schemas.microsoft.com/office/powerpoint/2010/main" val="268845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341CA-3F75-0992-FAC6-4A49FB3D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6. Encuesta de Satisfacción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B7B846-9119-FECC-3B32-93915F027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700" i="1" dirty="0"/>
              <a:t>Ruta: Dashboard → "Registros de Vinculación" → "» Encuesta"</a:t>
            </a:r>
          </a:p>
          <a:p>
            <a:pPr marL="457200" indent="-457200">
              <a:buFont typeface="Arial"/>
              <a:buChar char="•"/>
            </a:pPr>
            <a:r>
              <a:rPr lang="es-EC" sz="1700" dirty="0"/>
              <a:t>Selecciona </a:t>
            </a:r>
            <a:r>
              <a:rPr lang="es-EC" sz="1700" b="1" dirty="0"/>
              <a:t>Espacio</a:t>
            </a:r>
            <a:r>
              <a:rPr lang="es-EC" sz="1700" dirty="0"/>
              <a:t>, </a:t>
            </a:r>
            <a:r>
              <a:rPr lang="es-EC" sz="1700" b="1" dirty="0"/>
              <a:t>Beneficiario</a:t>
            </a:r>
            <a:r>
              <a:rPr lang="es-EC" sz="1700" dirty="0"/>
              <a:t> y </a:t>
            </a:r>
            <a:r>
              <a:rPr lang="es-EC" sz="1700" b="1" dirty="0"/>
              <a:t>Ciclo/Semestre</a:t>
            </a:r>
            <a:r>
              <a:rPr lang="es-EC" sz="1700" dirty="0"/>
              <a:t> a evaluar.</a:t>
            </a:r>
          </a:p>
          <a:p>
            <a:pPr marL="457200" indent="-457200">
              <a:buFont typeface="Arial"/>
              <a:buChar char="•"/>
            </a:pPr>
            <a:r>
              <a:rPr lang="es-EC" sz="1700" dirty="0"/>
              <a:t>Califica con </a:t>
            </a:r>
            <a:r>
              <a:rPr lang="es-EC" sz="1700" b="1" dirty="0"/>
              <a:t>estrellas (1-5)</a:t>
            </a:r>
            <a:r>
              <a:rPr lang="es-EC" sz="1700" dirty="0"/>
              <a:t>: satisfacción, aprendizaje, mejora del nivel de inglés y calidad de los recursos.</a:t>
            </a:r>
          </a:p>
          <a:p>
            <a:pPr marL="457200" indent="-457200">
              <a:buFont typeface="Arial"/>
              <a:buChar char="•"/>
            </a:pPr>
            <a:r>
              <a:rPr lang="es-EC" sz="1700" b="1" dirty="0"/>
              <a:t>Calificación por instructor</a:t>
            </a:r>
            <a:r>
              <a:rPr lang="es-EC" sz="1700" dirty="0"/>
              <a:t> → aparece una fila de estrellas por cada estudiante-instructor del espacio (incluyéndote a ti).</a:t>
            </a:r>
          </a:p>
          <a:p>
            <a:pPr marL="457200" indent="-457200">
              <a:buFont typeface="Arial"/>
              <a:buChar char="•"/>
            </a:pPr>
            <a:r>
              <a:rPr lang="es-EC" sz="1700" dirty="0"/>
              <a:t>Comentarios adicionales (opcional) → texto libre.</a:t>
            </a:r>
          </a:p>
          <a:p>
            <a:pPr marL="457200" indent="-457200">
              <a:buFont typeface="Arial"/>
              <a:buChar char="•"/>
            </a:pPr>
            <a:r>
              <a:rPr lang="es-EC" sz="1700" dirty="0"/>
              <a:t>Clic en </a:t>
            </a:r>
            <a:r>
              <a:rPr lang="es-EC" sz="1700" b="1" dirty="0"/>
              <a:t>"Enviar Encuesta"</a:t>
            </a:r>
            <a:r>
              <a:rPr lang="es-EC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219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C9383-60FF-3B6F-0A2D-F421EC01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7. Registrar Difusión (Evento o Podcast)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2D3460-25A7-FA9C-77CA-174E14AEF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600" i="1" dirty="0"/>
              <a:t>Ruta: Dashboard → "Registros de Vinculación" → "» Difusión / Evento"</a:t>
            </a:r>
          </a:p>
          <a:p>
            <a:pPr marL="457200" indent="-457200">
              <a:buFont typeface="Arial"/>
              <a:buChar char="•"/>
            </a:pPr>
            <a:r>
              <a:rPr lang="es-EC" sz="1600" dirty="0"/>
              <a:t>Título, </a:t>
            </a:r>
            <a:r>
              <a:rPr lang="es-EC" sz="1600" b="1" dirty="0"/>
              <a:t>Tipo de Difusión</a:t>
            </a:r>
            <a:r>
              <a:rPr lang="es-EC" sz="1600" dirty="0"/>
              <a:t> (Podcast, Evento Físico, Encuentro Comunitario, Evento de Formación, Visita Técnica), Fecha y Audiencia Alcanzada (N° Personas).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Profesor(es) Responsable(s)</a:t>
            </a:r>
            <a:r>
              <a:rPr lang="es-EC" sz="1600" dirty="0"/>
              <a:t> → marca ✅ al menos uno (obligatorio).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Si el tipo es "Podcast"</a:t>
            </a:r>
            <a:r>
              <a:rPr lang="es-EC" sz="1600" dirty="0"/>
              <a:t> → sube el video (categoría + archivo + botón "Subir video", obligatorio) y registra participantes (pasantes con ✅, invitados internos/externos).</a:t>
            </a:r>
          </a:p>
          <a:p>
            <a:pPr marL="457200" indent="-457200">
              <a:buFont typeface="Arial"/>
              <a:buChar char="•"/>
            </a:pPr>
            <a:r>
              <a:rPr lang="es-EC" sz="1600" b="1" dirty="0"/>
              <a:t>Foto / Evidencia</a:t>
            </a:r>
            <a:r>
              <a:rPr lang="es-EC" sz="1600" dirty="0"/>
              <a:t> → obligatorio subir una foto del evento o de las métricas del podcast.</a:t>
            </a:r>
          </a:p>
          <a:p>
            <a:pPr marL="457200" indent="-457200">
              <a:buFont typeface="Arial"/>
              <a:buChar char="•"/>
            </a:pPr>
            <a:r>
              <a:rPr lang="es-EC" sz="1600" dirty="0"/>
              <a:t>Clic en </a:t>
            </a:r>
            <a:r>
              <a:rPr lang="es-EC" sz="1600" b="1" dirty="0"/>
              <a:t>"Registrar Actividad de Difusión"</a:t>
            </a:r>
            <a:r>
              <a:rPr lang="es-EC" sz="1600" dirty="0"/>
              <a:t>.</a:t>
            </a:r>
          </a:p>
          <a:p>
            <a:pPr>
              <a:buNone/>
            </a:pPr>
            <a:r>
              <a:rPr lang="es-EC" sz="1500" i="1" dirty="0">
                <a:solidFill>
                  <a:srgbClr val="E97132"/>
                </a:solidFill>
              </a:rPr>
              <a:t>⚠ Queda pendiente de aprobación del administrador antes de aparecer en la web pública.</a:t>
            </a:r>
          </a:p>
        </p:txBody>
      </p:sp>
    </p:spTree>
    <p:extLst>
      <p:ext uri="{BB962C8B-B14F-4D97-AF65-F5344CB8AC3E}">
        <p14:creationId xmlns:p14="http://schemas.microsoft.com/office/powerpoint/2010/main" val="285137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3695F-04A8-C812-6C26-7A143285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7.1 Horas acreditables por podcast (solo Vinculación)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330B26D-7DE7-4FC4-BBE6-7AFE81028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044176"/>
              </p:ext>
            </p:extLst>
          </p:nvPr>
        </p:nvGraphicFramePr>
        <p:xfrm>
          <a:off x="838200" y="1905000"/>
          <a:ext cx="10515600" cy="330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861088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5665650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s-EC" sz="1600" b="1">
                          <a:solidFill>
                            <a:srgbClr val="FFFFFF"/>
                          </a:solidFill>
                        </a:rPr>
                        <a:t>Categoría (se detecta según los invitados agregados)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 b="1">
                          <a:solidFill>
                            <a:srgbClr val="FFFFFF"/>
                          </a:solidFill>
                        </a:rPr>
                        <a:t>Horas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916904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s-EC" sz="1600"/>
                        <a:t>Solitario / Entre estudiantes (sin invitados)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/>
                        <a:t>3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30804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s-EC" sz="1600"/>
                        <a:t>Con invitado interno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/>
                        <a:t>5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28290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s-EC" sz="1600"/>
                        <a:t>Con invitado externo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/>
                        <a:t>8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02249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s-EC" sz="1600"/>
                        <a:t>Panelista adicional interno / externo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/>
                        <a:t>+1 h / +2 h cada uno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676619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s-EC" sz="1600"/>
                        <a:t>Bono audiencia 1-10 / 11-20 / más de 20 personas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600"/>
                        <a:t>+1 h / +2 h / +3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43974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AFD3FD7-57AD-4EA5-ACB4-F29676FED7C9}"/>
              </a:ext>
            </a:extLst>
          </p:cNvPr>
          <p:cNvSpPr txBox="1"/>
          <p:nvPr/>
        </p:nvSpPr>
        <p:spPr>
          <a:xfrm>
            <a:off x="838200" y="5461000"/>
            <a:ext cx="10515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500" i="1">
                <a:solidFill>
                  <a:srgbClr val="E97132"/>
                </a:solidFill>
              </a:rPr>
              <a:t>⚠ Las horas no se acreditan de inmediato — quedan pendientes hasta que el profesor/admin aprueba el video. Mientras tanto verás "episodio(s) esperando aprobación" en tu tarjeta "Mi Avance".</a:t>
            </a:r>
            <a:endParaRPr lang="es-EC" sz="1500" i="1">
              <a:solidFill>
                <a:srgbClr val="E971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34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E2821-AD7C-E192-CC66-E2A77905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8. Ver mi avance (horas, espacios, evaluaciones)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D844B-B2D2-04C3-79EA-A690A1AE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buNone/>
            </a:pPr>
            <a:r>
              <a:rPr lang="es-EC" sz="1900" i="1" dirty="0"/>
              <a:t>Ruta: Dashboard → tarjeta "📊 Mi Avance" → "» Ver mi avance completo"</a:t>
            </a:r>
          </a:p>
          <a:p>
            <a:pPr>
              <a:buNone/>
            </a:pPr>
            <a:r>
              <a:rPr lang="es-EC" sz="1900" dirty="0"/>
              <a:t>Ahí puedes revisar en un solo lugar:</a:t>
            </a:r>
          </a:p>
          <a:p>
            <a:pPr marL="457200" indent="-457200">
              <a:buFont typeface="Arial"/>
              <a:buChar char="•"/>
            </a:pPr>
            <a:r>
              <a:rPr lang="es-EC" sz="1900" dirty="0"/>
              <a:t>Tus horas acreditadas: podcast </a:t>
            </a:r>
            <a:r>
              <a:rPr lang="es-EC" sz="1900" b="1" dirty="0">
                <a:solidFill>
                  <a:srgbClr val="E97132"/>
                </a:solidFill>
              </a:rPr>
              <a:t>🆕 + asistencia</a:t>
            </a:r>
            <a:r>
              <a:rPr lang="es-EC" sz="1900" dirty="0"/>
              <a:t> — con aviso de cuántas sesiones te faltan por aprobación.</a:t>
            </a:r>
          </a:p>
          <a:p>
            <a:pPr marL="457200" indent="-457200">
              <a:buFont typeface="Arial"/>
              <a:buChar char="•"/>
            </a:pPr>
            <a:r>
              <a:rPr lang="es-EC" sz="1900" dirty="0"/>
              <a:t>En qué espacios estás asignado.</a:t>
            </a:r>
          </a:p>
          <a:p>
            <a:pPr marL="457200" indent="-457200">
              <a:buFont typeface="Arial"/>
              <a:buChar char="•"/>
            </a:pPr>
            <a:r>
              <a:rPr lang="es-EC" sz="1900" dirty="0"/>
              <a:t>Qué beneficiarios has registrado/atendido.</a:t>
            </a:r>
          </a:p>
          <a:p>
            <a:pPr marL="457200" indent="-457200">
              <a:buFont typeface="Arial"/>
              <a:buChar char="•"/>
            </a:pPr>
            <a:r>
              <a:rPr lang="es-EC" sz="1900" dirty="0"/>
              <a:t>Las evaluaciones (MCER/encuestas) que ya cargaste.</a:t>
            </a:r>
          </a:p>
        </p:txBody>
      </p:sp>
    </p:spTree>
    <p:extLst>
      <p:ext uri="{BB962C8B-B14F-4D97-AF65-F5344CB8AC3E}">
        <p14:creationId xmlns:p14="http://schemas.microsoft.com/office/powerpoint/2010/main" val="400895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14849-B432-E737-9831-B0F72C22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9. Reportar Actividades de Investigación (opcional)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756D4-42FA-2061-441E-705159C4B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>
              <a:buNone/>
            </a:pPr>
            <a:r>
              <a:rPr lang="es-EC" sz="2400" i="1" dirty="0"/>
              <a:t>Ruta: Dashboard → tarjeta "Investigación (Vinculación)" → "» Reportar Actividades"</a:t>
            </a:r>
          </a:p>
          <a:p>
            <a:pPr marL="457200" indent="-457200">
              <a:buFont typeface="Arial"/>
              <a:buChar char="•"/>
            </a:pPr>
            <a:r>
              <a:rPr lang="es-EC" sz="2400" dirty="0"/>
              <a:t>Solo aplica si tu profesor te asignó también funciones de investigación, además de vinculación.</a:t>
            </a:r>
          </a:p>
          <a:p>
            <a:pPr marL="457200" indent="-457200">
              <a:buFont typeface="Arial"/>
              <a:buChar char="•"/>
            </a:pPr>
            <a:r>
              <a:rPr lang="es-EC" sz="2400" dirty="0"/>
              <a:t>Es un reporte de horas/actividades aparte — no reemplaza nada de las secciones de vinculación.</a:t>
            </a:r>
          </a:p>
        </p:txBody>
      </p:sp>
    </p:spTree>
    <p:extLst>
      <p:ext uri="{BB962C8B-B14F-4D97-AF65-F5344CB8AC3E}">
        <p14:creationId xmlns:p14="http://schemas.microsoft.com/office/powerpoint/2010/main" val="3603563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5F413-E232-46C0-D66F-80041DC2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C" dirty="0"/>
              <a:t>Resumen visual del recorrido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FC2DF1-99A6-4779-9800-8A0BD929A4A4}"/>
              </a:ext>
            </a:extLst>
          </p:cNvPr>
          <p:cNvSpPr/>
          <p:nvPr/>
        </p:nvSpPr>
        <p:spPr>
          <a:xfrm>
            <a:off x="3556000" y="1879600"/>
            <a:ext cx="5080000" cy="4572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FFFFFF"/>
                </a:solidFill>
              </a:rPr>
              <a:t>Portal PINE (login con correo institucional)</a:t>
            </a:r>
            <a:endParaRPr lang="es-EC" sz="1400" b="1">
              <a:solidFill>
                <a:srgbClr val="FFFFFF"/>
              </a:solidFill>
            </a:endParaRP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DC5D851C-D127-4064-8BC3-470F686ED5E3}"/>
              </a:ext>
            </a:extLst>
          </p:cNvPr>
          <p:cNvSpPr/>
          <p:nvPr/>
        </p:nvSpPr>
        <p:spPr>
          <a:xfrm>
            <a:off x="5842000" y="2362200"/>
            <a:ext cx="508000" cy="254000"/>
          </a:xfrm>
          <a:prstGeom prst="down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4D1F04B-4E6C-4ECA-8C3A-76E03C3BA293}"/>
              </a:ext>
            </a:extLst>
          </p:cNvPr>
          <p:cNvSpPr/>
          <p:nvPr/>
        </p:nvSpPr>
        <p:spPr>
          <a:xfrm>
            <a:off x="4445000" y="2641600"/>
            <a:ext cx="3302000" cy="4318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62A68B71-CD18-42E2-B923-23E2CC80818E}"/>
              </a:ext>
            </a:extLst>
          </p:cNvPr>
          <p:cNvSpPr/>
          <p:nvPr/>
        </p:nvSpPr>
        <p:spPr>
          <a:xfrm>
            <a:off x="5842000" y="3098800"/>
            <a:ext cx="508000" cy="228600"/>
          </a:xfrm>
          <a:prstGeom prst="down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18C1265-968D-4417-89F5-397268500F79}"/>
              </a:ext>
            </a:extLst>
          </p:cNvPr>
          <p:cNvSpPr/>
          <p:nvPr/>
        </p:nvSpPr>
        <p:spPr>
          <a:xfrm>
            <a:off x="762000" y="3403600"/>
            <a:ext cx="5080000" cy="2413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FFFFFF"/>
                </a:solidFill>
              </a:rPr>
              <a:t>Registros de Vinculación
• Asistencia (🆕 hora inicio/fin + foto → aprobación)
• Beneficiarios
• Test MCER (Pre/Post + QR)
• Encuesta (+ QR)
• Difusión / Evento</a:t>
            </a:r>
            <a:endParaRPr lang="es-EC" sz="1400">
              <a:solidFill>
                <a:srgbClr val="FFFFFF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5B4AC40-85BF-4239-B1F7-BABD126ABDEA}"/>
              </a:ext>
            </a:extLst>
          </p:cNvPr>
          <p:cNvSpPr/>
          <p:nvPr/>
        </p:nvSpPr>
        <p:spPr>
          <a:xfrm>
            <a:off x="6350000" y="3403600"/>
            <a:ext cx="2413000" cy="1143000"/>
          </a:xfrm>
          <a:prstGeom prst="round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FFFFFF"/>
                </a:solidFill>
              </a:rPr>
              <a:t>📊 Mi Avance
horas, espacios,
beneficiarios,
evaluaciones</a:t>
            </a:r>
            <a:endParaRPr lang="es-EC" sz="1400">
              <a:solidFill>
                <a:srgbClr val="FFFFFF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29099C2-8226-4E6D-B1D1-6A6437E36B8F}"/>
              </a:ext>
            </a:extLst>
          </p:cNvPr>
          <p:cNvSpPr/>
          <p:nvPr/>
        </p:nvSpPr>
        <p:spPr>
          <a:xfrm>
            <a:off x="9144000" y="3403600"/>
            <a:ext cx="2222500" cy="1143000"/>
          </a:xfrm>
          <a:prstGeom prst="round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>
                <a:solidFill>
                  <a:srgbClr val="FFFFFF"/>
                </a:solidFill>
              </a:rPr>
              <a:t>Investigación
(Vinculación)
solo si aplica</a:t>
            </a:r>
            <a:endParaRPr lang="es-EC" sz="1400">
              <a:solidFill>
                <a:srgbClr val="FFFFFF"/>
              </a:solidFill>
            </a:endParaRP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3BDC1A8C-466C-4187-97BD-0DC09ECC8DDA}"/>
              </a:ext>
            </a:extLst>
          </p:cNvPr>
          <p:cNvSpPr/>
          <p:nvPr/>
        </p:nvSpPr>
        <p:spPr>
          <a:xfrm>
            <a:off x="7429500" y="4546600"/>
            <a:ext cx="431800" cy="254000"/>
          </a:xfrm>
          <a:prstGeom prst="downArrow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176091F-A1F4-4E33-B02D-F7F5F9FC4D2D}"/>
              </a:ext>
            </a:extLst>
          </p:cNvPr>
          <p:cNvSpPr/>
          <p:nvPr/>
        </p:nvSpPr>
        <p:spPr>
          <a:xfrm>
            <a:off x="6350000" y="4749800"/>
            <a:ext cx="2413000" cy="1143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</a:rPr>
              <a:t>Horas por podcast
3–8h base + bonos</a:t>
            </a:r>
            <a:endParaRPr lang="es-EC" sz="1400">
              <a:solidFill>
                <a:srgbClr val="FFFFFF"/>
              </a:solidFill>
            </a:endParaRPr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9F1D9F82-7288-43A5-8981-F6AD666C9DD3}"/>
              </a:ext>
            </a:extLst>
          </p:cNvPr>
          <p:cNvSpPr/>
          <p:nvPr/>
        </p:nvSpPr>
        <p:spPr>
          <a:xfrm>
            <a:off x="3048000" y="3124200"/>
            <a:ext cx="381000" cy="254000"/>
          </a:xfrm>
          <a:prstGeom prst="downArrow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2A6B33F0-F62C-480A-A187-8F37A8EAB236}"/>
              </a:ext>
            </a:extLst>
          </p:cNvPr>
          <p:cNvSpPr/>
          <p:nvPr/>
        </p:nvSpPr>
        <p:spPr>
          <a:xfrm>
            <a:off x="10033000" y="3124200"/>
            <a:ext cx="381000" cy="254000"/>
          </a:xfrm>
          <a:prstGeom prst="downArrow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8BF4A1-0C01-45AA-8367-9FD1907443CC}"/>
              </a:ext>
            </a:extLst>
          </p:cNvPr>
          <p:cNvSpPr txBox="1"/>
          <p:nvPr/>
        </p:nvSpPr>
        <p:spPr>
          <a:xfrm>
            <a:off x="8953500" y="4749800"/>
            <a:ext cx="2413000" cy="825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i="1">
                <a:solidFill>
                  <a:srgbClr val="0E2841"/>
                </a:solidFill>
              </a:rPr>
              <a:t>Módulo independiente — no genera horas de podcast</a:t>
            </a:r>
          </a:p>
        </p:txBody>
      </p:sp>
    </p:spTree>
    <p:extLst>
      <p:ext uri="{BB962C8B-B14F-4D97-AF65-F5344CB8AC3E}">
        <p14:creationId xmlns:p14="http://schemas.microsoft.com/office/powerpoint/2010/main" val="3896161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43F2FB-CAD1-448D-95D1-200827322F7E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d8053d13-8fbb-4f47-898b-0e6e556aa7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1703</Words>
  <Application>Microsoft Office PowerPoint</Application>
  <PresentationFormat>Panorámica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PORTAL PINE - Vinculación</vt:lpstr>
      <vt:lpstr>0. Antes de empezar: conceptos clave</vt:lpstr>
      <vt:lpstr>1. Primer ingreso y activación de tu cuenta</vt:lpstr>
      <vt:lpstr>2. Tu Dashboard (pantalla de inicio)</vt:lpstr>
      <vt:lpstr>4. Registrar Asistencia</vt:lpstr>
      <vt:lpstr>4.1 Horas acreditables por asistencia 🆕</vt:lpstr>
      <vt:lpstr>3. Registrar Beneficiarios (1/2)</vt:lpstr>
      <vt:lpstr>3. Registrar Beneficiarios (2/2)</vt:lpstr>
      <vt:lpstr>4. Aplicar el Test de Nivelación MCER</vt:lpstr>
      <vt:lpstr>Alternativa: enlace/QR sin login</vt:lpstr>
      <vt:lpstr>6. Encuesta de Satisfacción</vt:lpstr>
      <vt:lpstr>7. Registrar Difusión (Evento o Podcast)</vt:lpstr>
      <vt:lpstr>7.1 Horas acreditables por podcast (solo Vinculación)</vt:lpstr>
      <vt:lpstr>8. Ver mi avance (horas, espacios, evaluaciones)</vt:lpstr>
      <vt:lpstr>9. Reportar Actividades de Investigación (opcional)</vt:lpstr>
      <vt:lpstr>Resumen visual del recorrido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uleam.arodriguez Rodriguez</dc:creator>
  <cp:lastModifiedBy>uleam.arodriguez Rodriguez</cp:lastModifiedBy>
  <cp:revision>2</cp:revision>
  <dcterms:created xsi:type="dcterms:W3CDTF">2026-09-16T17:45:15Z</dcterms:created>
  <dcterms:modified xsi:type="dcterms:W3CDTF">2026-09-16T22:44:54Z</dcterms:modified>
</cp:coreProperties>
</file>